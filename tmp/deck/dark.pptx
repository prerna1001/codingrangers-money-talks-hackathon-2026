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2026-07</c:v>
                </c:pt>
                <c:pt idx="1">
                  <c:v>Meridian Health</c:v>
                </c:pt>
                <c:pt idx="2">
                  <c:v>SMB Bulk (aggregated)</c:v>
                </c:pt>
                <c:pt idx="3">
                  <c:v>Northwind Labs</c:v>
                </c:pt>
                <c:pt idx="4">
                  <c:v>AtlasGrid</c:v>
                </c:pt>
                <c:pt idx="5">
                  <c:v>2026-08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1">
                  <c:v>150000.0</c:v>
                </c:pt>
                <c:pt idx="2">
                  <c:v>160000.0</c:v>
                </c:pt>
                <c:pt idx="3">
                  <c:v>169000.0</c:v>
                </c:pt>
                <c:pt idx="4">
                  <c:v>177000.0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5B9BD5"/>
            </a:solidFill>
          </c:spPr>
          <c:dLbls>
            <c:numFmt formatCode="$#,##0;-$#,##0;;" sourceLinked="0"/>
            <c:txPr>
              <a:bodyPr/>
              <a:lstStyle/>
              <a:p>
                <a:pPr>
                  <a:defRPr sz="1000" b="1">
                    <a:solidFill>
                      <a:srgbClr val="E6EDF5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2026-07</c:v>
                </c:pt>
                <c:pt idx="1">
                  <c:v>Meridian Health</c:v>
                </c:pt>
                <c:pt idx="2">
                  <c:v>SMB Bulk (aggregated)</c:v>
                </c:pt>
                <c:pt idx="3">
                  <c:v>Northwind Labs</c:v>
                </c:pt>
                <c:pt idx="4">
                  <c:v>AtlasGrid</c:v>
                </c:pt>
                <c:pt idx="5">
                  <c:v>2026-08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150000.0</c:v>
                </c:pt>
                <c:pt idx="5">
                  <c:v>183000.0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FB97A"/>
            </a:solidFill>
          </c:spPr>
          <c:dLbls>
            <c:numFmt formatCode="$#,##0;-$#,##0;;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2026-07</c:v>
                </c:pt>
                <c:pt idx="1">
                  <c:v>Meridian Health</c:v>
                </c:pt>
                <c:pt idx="2">
                  <c:v>SMB Bulk (aggregated)</c:v>
                </c:pt>
                <c:pt idx="3">
                  <c:v>Northwind Labs</c:v>
                </c:pt>
                <c:pt idx="4">
                  <c:v>AtlasGrid</c:v>
                </c:pt>
                <c:pt idx="5">
                  <c:v>2026-08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1">
                  <c:v>10000.0</c:v>
                </c:pt>
                <c:pt idx="2">
                  <c:v>9000.0</c:v>
                </c:pt>
                <c:pt idx="3">
                  <c:v>8000.0</c:v>
                </c:pt>
                <c:pt idx="4">
                  <c:v>6000.0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E5534B"/>
            </a:solidFill>
          </c:spPr>
          <c:dLbls>
            <c:numFmt formatCode="$#,##0;-$#,##0;;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2026-07</c:v>
                </c:pt>
                <c:pt idx="1">
                  <c:v>Meridian Health</c:v>
                </c:pt>
                <c:pt idx="2">
                  <c:v>SMB Bulk (aggregated)</c:v>
                </c:pt>
                <c:pt idx="3">
                  <c:v>Northwind Labs</c:v>
                </c:pt>
                <c:pt idx="4">
                  <c:v>AtlasGrid</c:v>
                </c:pt>
                <c:pt idx="5">
                  <c:v>2026-08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6364A"/>
            </a:solidFill>
          </a:ln>
        </c:spPr>
        <c:txPr>
          <a:bodyPr/>
          <a:lstStyle/>
          <a:p>
            <a:pPr>
              <a:defRPr sz="1000">
                <a:solidFill>
                  <a:srgbClr val="E6ED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120000.0"/>
        </c:scaling>
        <c:delete val="0"/>
        <c:axPos val="l"/>
        <c:majorGridlines>
          <c:spPr>
            <a:ln w="6350">
              <a:solidFill>
                <a:srgbClr val="26364A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AA8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9AA8B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Change</c:v>
                </c:pt>
              </c:strCache>
            </c:strRef>
          </c:tx>
          <c:invertIfNegative val="0"/>
          <c:dPt>
            <c:idx val="0"/>
            <c:spPr>
              <a:solidFill>
                <a:srgbClr val="3FB97A"/>
              </a:solidFill>
            </c:spPr>
          </c:dPt>
          <c:dPt>
            <c:idx val="1"/>
            <c:spPr>
              <a:solidFill>
                <a:srgbClr val="3FB97A"/>
              </a:solidFill>
            </c:spPr>
          </c:dPt>
          <c:dPt>
            <c:idx val="2"/>
            <c:spPr>
              <a:solidFill>
                <a:srgbClr val="3FB97A"/>
              </a:solidFill>
            </c:spPr>
          </c:dPt>
          <c:dPt>
            <c:idx val="3"/>
            <c:spPr>
              <a:solidFill>
                <a:srgbClr val="3FB97A"/>
              </a:solidFill>
            </c:spPr>
          </c:dPt>
          <c:dPt>
            <c:idx val="4"/>
            <c:spPr>
              <a:solidFill>
                <a:srgbClr val="3FB97A"/>
              </a:solidFill>
            </c:spPr>
          </c:dPt>
          <c:dLbls>
            <c:numFmt formatCode="$#,##0;-$#,##0" sourceLinked="0"/>
            <c:txPr>
              <a:bodyPr/>
              <a:lstStyle/>
              <a:p>
                <a:pPr>
                  <a:defRPr sz="1000" b="1">
                    <a:solidFill>
                      <a:srgbClr val="E6EDF5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Meridian Health</c:v>
                </c:pt>
                <c:pt idx="1">
                  <c:v>SMB Bulk (aggregated)</c:v>
                </c:pt>
                <c:pt idx="2">
                  <c:v>Northwind Labs</c:v>
                </c:pt>
                <c:pt idx="3">
                  <c:v>AWS</c:v>
                </c:pt>
                <c:pt idx="4">
                  <c:v>AtlasGrid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10000.0</c:v>
                </c:pt>
                <c:pt idx="1">
                  <c:v>9000.0</c:v>
                </c:pt>
                <c:pt idx="2">
                  <c:v>8000.0</c:v>
                </c:pt>
                <c:pt idx="3">
                  <c:v>6400.0</c:v>
                </c:pt>
                <c:pt idx="4">
                  <c:v>6000.0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26364A"/>
            </a:solidFill>
          </a:ln>
        </c:spPr>
        <c:txPr>
          <a:bodyPr/>
          <a:lstStyle/>
          <a:p>
            <a:pPr>
              <a:defRPr sz="1000">
                <a:solidFill>
                  <a:srgbClr val="E6ED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$#,##0;-$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AA8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9AA8B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(ms)</c:v>
                </c:pt>
              </c:strCache>
            </c:strRef>
          </c:tx>
          <c:spPr>
            <a:solidFill>
              <a:srgbClr val="2BB3A3"/>
            </a:solidFill>
          </c:spPr>
          <c:dLbls>
            <c:numFmt formatCode="#,##0&quot; ms&quot;" sourceLinked="0"/>
            <c:txPr>
              <a:bodyPr/>
              <a:lstStyle/>
              <a:p>
                <a:pPr>
                  <a:defRPr sz="900">
                    <a:solidFill>
                      <a:srgbClr val="E6EDF5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Profile Builder</c:v>
                </c:pt>
                <c:pt idx="1">
                  <c:v>Data QA</c:v>
                </c:pt>
                <c:pt idx="2">
                  <c:v>Analytics Engine</c:v>
                </c:pt>
                <c:pt idx="3">
                  <c:v>Memory Agent</c:v>
                </c:pt>
                <c:pt idx="4">
                  <c:v>RAG Agent</c:v>
                </c:pt>
                <c:pt idx="5">
                  <c:v>Analyst</c:v>
                </c:pt>
                <c:pt idx="6">
                  <c:v>Safety Guardrail</c:v>
                </c:pt>
                <c:pt idx="7">
                  <c:v>Stress Test</c:v>
                </c:pt>
                <c:pt idx="8">
                  <c:v>Report Writer</c:v>
                </c:pt>
                <c:pt idx="9">
                  <c:v>Memory Update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</c:v>
                </c:pt>
                <c:pt idx="1">
                  <c:v>15</c:v>
                </c:pt>
                <c:pt idx="2">
                  <c:v>12</c:v>
                </c:pt>
                <c:pt idx="3">
                  <c:v>8</c:v>
                </c:pt>
                <c:pt idx="4">
                  <c:v>11</c:v>
                </c:pt>
                <c:pt idx="5">
                  <c:v>5621</c:v>
                </c:pt>
                <c:pt idx="6">
                  <c:v>8965</c:v>
                </c:pt>
                <c:pt idx="7">
                  <c:v>0</c:v>
                </c:pt>
                <c:pt idx="8">
                  <c:v>3379</c:v>
                </c:pt>
                <c:pt idx="9">
                  <c:v>77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26364A"/>
            </a:solidFill>
          </a:ln>
        </c:spPr>
        <c:txPr>
          <a:bodyPr/>
          <a:lstStyle/>
          <a:p>
            <a:pPr>
              <a:defRPr sz="1000">
                <a:solidFill>
                  <a:srgbClr val="E6ED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06.25"/>
        </c:scaling>
        <c:delete/>
        <c:axPos val="b"/>
        <c:numFmt formatCode="#,##0&quot; ms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AA8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9AA8B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Subscription revenue jumped $33K MoM, driven by four key accounts; cloud hosting costs rose $6.4K due to AWS. Revenue moved from $150K to $183K. The rest of the deck explains why, how sure we are, and what we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and approach. Stress that numbers are computed in code, not generated by the model, and every fact keeps a pointer to the transactions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chart left to right: opening revenue, each driver's contribution, closing revenue. Green bars add revenue, red bars subtract. The bars tie exactly to both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Drivers are counterparties or revenue lines whose totals moved most. Each carries a confidence score derived from its evidence; low-confidence rows deserve a human look before external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Assurance. 10/10 numbers verified. Data quality 100%, overall confidence 88%. This is the answer to 'can I trust this?'.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DemoCo's subscription revenue rose $33K MoM to $183K, driven by four key accounts (Meridian Health $10K, SMB Bulk $9K, Northwind Labs $8K, AtlasGrid $6K), while cloud hosting costs increased $6.4K to $35.5K due entirely to higher AWS usage. The top three drivers account for 81.8% of the revenue lift, highlighting concentration risk.</a:t>
            </a:r>
          </a:p>
          <a:p/>
          <a:p>
            <a:r>
              <a:t>Risks: The subscription revenue increase is highly concentrated: 81.8% of the lift comes from the top three customers, raising reliance risk.; Statistical significance cannot be assessed due to insufficient historical data for both revenue and hosting variances.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asks. The open questions on the left come straight from the analysis; the roadmap is the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BB3A3"/>
                </a:solidFill>
                <a:latin typeface="Calibri"/>
              </a:rPr>
              <a:t>LEDGERLIGHT  |  REVENUE VARIANCE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>
                <a:solidFill>
                  <a:srgbClr val="E6EDF5"/>
                </a:solidFill>
                <a:latin typeface="Calibri"/>
              </a:rPr>
              <a:t>DemoCo: revenue grew $33K (22.0%) from 2026-07 to 2026-08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9AA8B8"/>
                </a:solidFill>
                <a:latin typeface="Calibri"/>
              </a:rPr>
              <a:t>Subscription revenue jumped $33K MoM, driven by four key accounts; cloud hosting costs rose $6.4K due to AWS.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2606040" cy="123444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54864" cy="1234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2026-07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6EDF5"/>
                </a:solidFill>
                <a:latin typeface="Calibri"/>
              </a:rPr>
              <a:t>$150K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4297680"/>
            <a:ext cx="2606040" cy="123444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4297680"/>
            <a:ext cx="54864" cy="1234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4348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2026-08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75488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6EDF5"/>
                </a:solidFill>
                <a:latin typeface="Calibri"/>
              </a:rPr>
              <a:t>$183K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297680"/>
            <a:ext cx="2606040" cy="123444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297680"/>
            <a:ext cx="54864" cy="1234440"/>
          </a:xfrm>
          <a:prstGeom prst="rect">
            <a:avLst/>
          </a:prstGeom>
          <a:solidFill>
            <a:srgbClr val="3FB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4348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NET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75488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3FB97A"/>
                </a:solidFill>
                <a:latin typeface="Calibri"/>
              </a:rPr>
              <a:t>+$33K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4297680"/>
            <a:ext cx="2606040" cy="123444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4297680"/>
            <a:ext cx="54864" cy="1234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4348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75488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6EDF5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A8B8"/>
                </a:solidFill>
                <a:latin typeface="Calibri"/>
              </a:rPr>
              <a:t>Prepared for leadership and partner teams  |  Run run_a11afc9dbb3f  |  Every figure traced to source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B3A3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>
                <a:solidFill>
                  <a:srgbClr val="E6EDF5"/>
                </a:solidFill>
                <a:latin typeface="Calibri"/>
              </a:rPr>
              <a:t>Explaining a revenue swing takes days and is hard to audit; we made it traceable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648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Ledgerlight  |  DemoCo  |  2026-07 to 2026-08  |  Run run_a11afc9dbb3f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8424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5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400" b="0">
                <a:solidFill>
                  <a:srgbClr val="E6EDF5"/>
                </a:solidFill>
                <a:latin typeface="Calibri"/>
              </a:rPr>
              <a:t>Finance teams reconcile month-on-month revenue by hand across ledgers, exports and spreadsheets.</a:t>
            </a:r>
          </a:p>
          <a:p>
            <a:pPr algn="l" marL="182880" indent="-182880">
              <a:lnSpc>
                <a:spcPct val="105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400" b="0">
                <a:solidFill>
                  <a:srgbClr val="E6EDF5"/>
                </a:solidFill>
                <a:latin typeface="Calibri"/>
              </a:rPr>
              <a:t>Narratives drift from the numbers: a figure quoted in a board note is rarely linked to the entries behind it.</a:t>
            </a:r>
          </a:p>
          <a:p>
            <a:pPr algn="l" marL="182880" indent="-182880">
              <a:lnSpc>
                <a:spcPct val="105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400" b="0">
                <a:solidFill>
                  <a:srgbClr val="E6EDF5"/>
                </a:solidFill>
                <a:latin typeface="Calibri"/>
              </a:rPr>
              <a:t>Leaders need three answers fast: what moved, why, and how much to trust the explanation.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26280"/>
            <a:ext cx="5394960" cy="164592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451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SCOPE OF THIS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5B9BD5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A8B8"/>
                </a:solidFill>
                <a:latin typeface="Calibri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983480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5B9BD5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55046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A8B8"/>
                </a:solidFill>
                <a:latin typeface="Calibri"/>
              </a:rPr>
              <a:t>computed 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983480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5B9BD5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5046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A8B8"/>
                </a:solidFill>
                <a:latin typeface="Calibri"/>
              </a:rPr>
              <a:t>evidence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338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8B8"/>
                </a:solidFill>
                <a:latin typeface="Calibri"/>
              </a:rPr>
              <a:t>2026-07 vs 2026-08  |  DemoCo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5242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Our approach: a pipeline of specialised 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98424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2148840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89988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621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185416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Profile Builder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0820" y="2496312"/>
            <a:ext cx="12700" cy="109728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2624328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65476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621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660904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Data QA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60820" y="2971800"/>
            <a:ext cx="12700" cy="109728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3099816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140964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621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136392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Analytics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60820" y="3447288"/>
            <a:ext cx="12700" cy="109728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3575304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616452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621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611880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Memory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60820" y="3922776"/>
            <a:ext cx="12700" cy="109728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050792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091940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621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087368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RAG 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0820" y="4398264"/>
            <a:ext cx="12700" cy="109728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4526280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567428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621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562856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Analyst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60820" y="4873752"/>
            <a:ext cx="12700" cy="109728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5001768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042916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621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038344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Safety Guardrail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60820" y="5349240"/>
            <a:ext cx="12700" cy="109728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00800" y="5477256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518404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621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5513832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Stress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989320"/>
            <a:ext cx="5242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A8B8"/>
                </a:solidFill>
                <a:latin typeface="Calibri"/>
              </a:rPr>
              <a:t>Deterministic maths computes every figure; the language model only explains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B3A3"/>
                </a:solidFill>
                <a:latin typeface="Calibri"/>
              </a:rPr>
              <a:t>ANALYSIS  |  REVENUE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>
                <a:solidFill>
                  <a:srgbClr val="E6EDF5"/>
                </a:solidFill>
                <a:latin typeface="Calibri"/>
              </a:rPr>
              <a:t>Revenue moved +$33K (+22.0%); Meridian Health was the largest lift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648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Ledgerlight  |  DemoCo  |  2026-07 to 2026-08  |  Run run_a11afc9dbb3f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772400" cy="457200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737360"/>
          <a:ext cx="7589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9161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8B8"/>
                </a:solidFill>
                <a:latin typeface="Calibri"/>
              </a:rPr>
              <a:t>Green adds revenue, red reduces it. Vertical axis is truncated to make the movements visible.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45920"/>
            <a:ext cx="3047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How to read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93852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103120"/>
            <a:ext cx="30476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5000"/>
              </a:lnSpc>
              <a:spcAft>
                <a:spcPts val="800"/>
              </a:spcAft>
              <a:buClr>
                <a:srgbClr val="2BB3A3"/>
              </a:buClr>
              <a:buChar char="•"/>
            </a:pPr>
            <a:r>
              <a:rPr sz="1300" b="0">
                <a:solidFill>
                  <a:srgbClr val="E6EDF5"/>
                </a:solidFill>
                <a:latin typeface="Calibri"/>
              </a:rPr>
              <a:t>Starts at $150K in 2026-07 and ends at $183K in 2026-08.</a:t>
            </a:r>
          </a:p>
          <a:p>
            <a:pPr algn="l" marL="182880" indent="-182880">
              <a:lnSpc>
                <a:spcPct val="105000"/>
              </a:lnSpc>
              <a:spcAft>
                <a:spcPts val="800"/>
              </a:spcAft>
              <a:buClr>
                <a:srgbClr val="2BB3A3"/>
              </a:buClr>
              <a:buChar char="•"/>
            </a:pPr>
            <a:r>
              <a:rPr sz="1300" b="0">
                <a:solidFill>
                  <a:srgbClr val="E6EDF5"/>
                </a:solidFill>
                <a:latin typeface="Calibri"/>
              </a:rPr>
              <a:t>Biggest lift: Meridian Health, +$10K.</a:t>
            </a:r>
          </a:p>
          <a:p>
            <a:pPr algn="l" marL="182880" indent="-182880">
              <a:lnSpc>
                <a:spcPct val="105000"/>
              </a:lnSpc>
              <a:spcAft>
                <a:spcPts val="800"/>
              </a:spcAft>
              <a:buClr>
                <a:srgbClr val="2BB3A3"/>
              </a:buClr>
              <a:buChar char="•"/>
            </a:pPr>
            <a:r>
              <a:rPr sz="1300" b="0">
                <a:solidFill>
                  <a:srgbClr val="E6EDF5"/>
                </a:solidFill>
                <a:latin typeface="Calibri"/>
              </a:rPr>
              <a:t>Drivers fully explain the movement; no unattributed remainder.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4937760"/>
            <a:ext cx="3047695" cy="128016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5047488"/>
            <a:ext cx="2681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5321808"/>
            <a:ext cx="2681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FB97A"/>
                </a:solidFill>
                <a:latin typeface="Calibri"/>
              </a:rPr>
              <a:t>4 drivers added revenue and 0 reduced it; the net effect is +$33K.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B3A3"/>
                </a:solidFill>
                <a:latin typeface="Calibri"/>
              </a:rPr>
              <a:t>ANALYSIS  | 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>
                <a:solidFill>
                  <a:srgbClr val="E6EDF5"/>
                </a:solidFill>
                <a:latin typeface="Calibri"/>
              </a:rPr>
              <a:t>Meridian Health alone accounts for +$10K of the movement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648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Ledgerlight  |  DemoCo  |  2026-07 to 2026-08  |  Run run_a11afc9dbb3f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Change by driver, largest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3852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5120640" cy="416052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94360" y="2103120"/>
          <a:ext cx="502920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943600" y="1645920"/>
            <a:ext cx="5699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Ranked drivers with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93852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0" y="2103120"/>
          <a:ext cx="5699452" cy="20848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72892"/>
                <a:gridCol w="1344815"/>
                <a:gridCol w="768465"/>
                <a:gridCol w="832504"/>
                <a:gridCol w="704427"/>
                <a:gridCol w="57634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1621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73152" marR="73152" marT="27432" marB="27432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1621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73152" marR="73152" marT="27432" marB="27432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E1621"/>
                          </a:solidFill>
                          <a:latin typeface="Calibri"/>
                        </a:rPr>
                        <a:t>Prior</a:t>
                      </a:r>
                    </a:p>
                  </a:txBody>
                  <a:tcPr marL="73152" marR="73152" marT="27432" marB="27432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E1621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73152" marR="73152" marT="27432" marB="27432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E1621"/>
                          </a:solidFill>
                          <a:latin typeface="Calibri"/>
                        </a:rPr>
                        <a:t>% chg</a:t>
                      </a:r>
                    </a:p>
                  </a:txBody>
                  <a:tcPr marL="73152" marR="73152" marT="27432" marB="27432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E1621"/>
                          </a:solidFill>
                          <a:latin typeface="Calibri"/>
                        </a:rPr>
                        <a:t>Conf.</a:t>
                      </a:r>
                    </a:p>
                  </a:txBody>
                  <a:tcPr marL="73152" marR="73152" marT="27432" marB="27432" anchor="ctr">
                    <a:solidFill>
                      <a:srgbClr val="5B9BD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Meridian Health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Subscription revenue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+$10K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+100.0%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SMB Bulk (aggregated)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Subscription revenue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$132K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+$9.0K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+6.8%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Northwind Labs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Subscription revenue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$10K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+$8.0K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+80.0%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AWS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Cloud hosting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+$6.4K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+22.0%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73152" marR="73152" marT="27432" marB="27432" anchor="ctr">
                    <a:solidFill>
                      <a:srgbClr val="0E162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AtlasGrid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Subscription revenue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$8.0K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+$6.0K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FB97A"/>
                          </a:solidFill>
                          <a:latin typeface="Calibri"/>
                        </a:rPr>
                        <a:t>+75.0%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6EDF5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73152" marR="73152" marT="27432" marB="27432" anchor="ctr">
                    <a:solidFill>
                      <a:srgbClr val="16212E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43600" y="4297680"/>
            <a:ext cx="5699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8B8"/>
                </a:solidFill>
                <a:latin typeface="Calibri"/>
              </a:rPr>
              <a:t>Prior is the driver's own total in the earlier period; % chg is measured against it. Confidence reflects how completely evidence supports each figure.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892040"/>
            <a:ext cx="5699455" cy="132588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4892040"/>
            <a:ext cx="54864" cy="132588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983480"/>
            <a:ext cx="53336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239512"/>
            <a:ext cx="53336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The top three drivers explain 82% of the net change across 5 drivers; average confidence is 88%.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B3A3"/>
                </a:solidFill>
                <a:latin typeface="Calibri"/>
              </a:rPr>
              <a:t>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>
                <a:solidFill>
                  <a:srgbClr val="E6EDF5"/>
                </a:solidFill>
                <a:latin typeface="Calibri"/>
              </a:rPr>
              <a:t>Every number is verified against source data before it reaches a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648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Ledgerlight  |  DemoCo  |  2026-07 to 2026-08  |  Run run_a11afc9dbb3f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651760" cy="114300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864" cy="11430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196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DATA QUALITY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12264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6EDF5"/>
                </a:solidFill>
                <a:latin typeface="Calibri"/>
              </a:rP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691640"/>
            <a:ext cx="2651760" cy="114300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91640"/>
            <a:ext cx="54864" cy="11430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8196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OVERALL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12264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6EDF5"/>
                </a:solidFill>
                <a:latin typeface="Calibri"/>
              </a:rPr>
              <a:t>88%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2651760" cy="114300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54864" cy="1143000"/>
          </a:xfrm>
          <a:prstGeom prst="rect">
            <a:avLst/>
          </a:prstGeom>
          <a:solidFill>
            <a:srgbClr val="3FB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196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NUMBERS 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12264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3FB97A"/>
                </a:solidFill>
                <a:latin typeface="Calibri"/>
              </a:rPr>
              <a:t>10/10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691640"/>
            <a:ext cx="2651760" cy="114300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691640"/>
            <a:ext cx="54864" cy="11430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196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GUARDRAIL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12264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6EDF5"/>
                </a:solidFill>
                <a:latin typeface="Calibri"/>
              </a:rPr>
              <a:t>Approved With Caveats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063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Agent run: time spent per stage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5584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474720"/>
            <a:ext cx="6400800" cy="274320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594360" y="3520440"/>
          <a:ext cx="63093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223760" y="3063240"/>
            <a:ext cx="4419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What backs each claim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35584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520440"/>
            <a:ext cx="44192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5000"/>
              </a:lnSpc>
              <a:spcAft>
                <a:spcPts val="8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Figures are computed in code from the ledger, not written by the language model.</a:t>
            </a:r>
          </a:p>
          <a:p>
            <a:pPr algn="l" marL="182880" indent="-182880">
              <a:lnSpc>
                <a:spcPct val="105000"/>
              </a:lnSpc>
              <a:spcAft>
                <a:spcPts val="8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9 facts link to 10 source transactions, down to file and row.</a:t>
            </a:r>
          </a:p>
          <a:p>
            <a:pPr algn="l" marL="182880" indent="-182880">
              <a:lnSpc>
                <a:spcPct val="105000"/>
              </a:lnSpc>
              <a:spcAft>
                <a:spcPts val="8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Quoted numbers in the narrative are checked against those facts; anything unverified is flagged.</a:t>
            </a:r>
          </a:p>
          <a:p>
            <a:pPr algn="l" marL="182880" indent="-182880">
              <a:lnSpc>
                <a:spcPct val="105000"/>
              </a:lnSpc>
              <a:spcAft>
                <a:spcPts val="8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Guardrails screen the uploaded data for injected instructions and formula-style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B3A3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>
                <a:solidFill>
                  <a:srgbClr val="E6EDF5"/>
                </a:solidFill>
                <a:latin typeface="Calibri"/>
              </a:rPr>
              <a:t>What leadership should take away, and what to keep in mind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648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Ledgerlight  |  DemoCo  |  2026-07 to 2026-08  |  Run run_a11afc9dbb3f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Key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8424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E1621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4884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Revenue rose $33K (22.0%) to $183K.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E1621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5351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Meridian Health was the largest positive driver at +$10K.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758184"/>
            <a:ext cx="384048" cy="38404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2219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E1621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58184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The top three drivers explain 82% of the change across 5 drivers, so growth is concentrated.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62856"/>
            <a:ext cx="384048" cy="38404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2686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E1621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62856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6EDF5"/>
                </a:solidFill>
                <a:latin typeface="Calibri"/>
              </a:rPr>
              <a:t>The explanation is evidence-backed: 10/10 numbers verified, data quality 100%.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691640"/>
            <a:ext cx="5059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6EDF5"/>
                </a:solidFill>
                <a:latin typeface="Calibri"/>
              </a:rPr>
              <a:t>Risks and caveats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984248"/>
            <a:ext cx="457200" cy="254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2148840"/>
            <a:ext cx="5059375" cy="228600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286000"/>
            <a:ext cx="460217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2BB3A3"/>
              </a:buClr>
              <a:buChar char="•"/>
            </a:pPr>
            <a:r>
              <a:rPr sz="1200" b="0">
                <a:solidFill>
                  <a:srgbClr val="E6EDF5"/>
                </a:solidFill>
                <a:latin typeface="Calibri"/>
              </a:rPr>
              <a:t>The subscription revenue increase is highly concentrated: 81.8% of the lift comes from the top three customers, raising reliance risk.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2BB3A3"/>
              </a:buClr>
              <a:buChar char="•"/>
            </a:pPr>
            <a:r>
              <a:rPr sz="1200" b="0">
                <a:solidFill>
                  <a:srgbClr val="E6EDF5"/>
                </a:solidFill>
                <a:latin typeface="Calibri"/>
              </a:rPr>
              <a:t>Statistical significance cannot be assessed due to insufficient historical data for both revenue and hosting variances.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617720"/>
            <a:ext cx="5059375" cy="160020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727448"/>
            <a:ext cx="4602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AA8B8"/>
                </a:solidFill>
                <a:latin typeface="Calibri"/>
              </a:rPr>
              <a:t>BOARD UPDATE, ONE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029200"/>
            <a:ext cx="460217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E6EDF5"/>
                </a:solidFill>
                <a:latin typeface="Calibri"/>
              </a:rPr>
              <a:t>DemoCo's subscription revenue rose $33K MoM to $183K, driven by four key accounts (Meridian Health $10K, SMB Bulk $9K, Northwind Labs $8K, AtlasGrid $6K), while cloud hosting costs increased $6.4K to $35.5K due entirely to higher…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B3A3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>
                <a:solidFill>
                  <a:srgbClr val="E6EDF5"/>
                </a:solidFill>
                <a:latin typeface="Calibri"/>
              </a:rPr>
              <a:t>From a one-off analysis to a monthly, always-on revenue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26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648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Ledgerlight  |  DemoCo  |  2026-07 to 2026-08  |  Run run_a11afc9dbb3f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8B8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515258" cy="384048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515258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30580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6EDF5"/>
                </a:solidFill>
                <a:latin typeface="Calibri"/>
              </a:rPr>
              <a:t>Open questions from this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305805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Are there any upcoming contract renewals or expansions with Meridian Health, SMB Bulk, Northwind Labs, o…</a:t>
            </a:r>
          </a:p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What is the expected AWS usage trend for the next periods, and are there any cost‑optimization initiativ…</a:t>
            </a:r>
          </a:p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Do we have visibility into churn or downgrade risk among these top contributors?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1691640"/>
            <a:ext cx="3515258" cy="384048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1691640"/>
            <a:ext cx="3515258" cy="54864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6818" y="1874519"/>
            <a:ext cx="30580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6EDF5"/>
                </a:solidFill>
                <a:latin typeface="Calibri"/>
              </a:rPr>
              <a:t>Product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2377440"/>
            <a:ext cx="305805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Multi-period trends and seasonality, beyond a two-period comparison</a:t>
            </a:r>
          </a:p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Forecasting and what-if scenarios on the top drivers</a:t>
            </a:r>
          </a:p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Live connectors to the ledger and billing systems</a:t>
            </a:r>
          </a:p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Scheduled monthly board pack, delivered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691640"/>
            <a:ext cx="3515258" cy="3840480"/>
          </a:xfrm>
          <a:prstGeom prst="rect">
            <a:avLst/>
          </a:prstGeom>
          <a:solidFill>
            <a:srgbClr val="16212E"/>
          </a:solidFill>
          <a:ln w="9525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1691640"/>
            <a:ext cx="3515258" cy="54864"/>
          </a:xfrm>
          <a:prstGeom prst="rect">
            <a:avLst/>
          </a:prstGeom>
          <a:solidFill>
            <a:srgbClr val="3FB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6396" y="1874519"/>
            <a:ext cx="30580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6EDF5"/>
                </a:solidFill>
                <a:latin typeface="Calibri"/>
              </a:rPr>
              <a:t>Asks of this 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2377440"/>
            <a:ext cx="305805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Confirm the drivers and caveats on slide 6 with account owners</a:t>
            </a:r>
          </a:p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Nominate a pilot team and data source for the next close</a:t>
            </a:r>
          </a:p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Agree the confidence threshold for external reporting</a:t>
            </a:r>
          </a:p>
          <a:p>
            <a:pPr algn="l" marL="182880" indent="-182880">
              <a:lnSpc>
                <a:spcPct val="100000"/>
              </a:lnSpc>
              <a:spcAft>
                <a:spcPts val="900"/>
              </a:spcAft>
              <a:buClr>
                <a:srgbClr val="2BB3A3"/>
              </a:buClr>
              <a:buChar char="•"/>
            </a:pPr>
            <a:r>
              <a:rPr sz="1250" b="0">
                <a:solidFill>
                  <a:srgbClr val="E6EDF5"/>
                </a:solidFill>
                <a:latin typeface="Calibri"/>
              </a:rPr>
              <a:t>Review the Power BI report for the same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54577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1621"/>
                </a:solidFill>
                <a:latin typeface="Calibri"/>
              </a:rPr>
              <a:t>Next step: agree the pilot scope and run this review on the next period close.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
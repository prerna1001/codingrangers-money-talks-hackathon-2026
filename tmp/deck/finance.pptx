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2026-07</c:v>
                </c:pt>
                <c:pt idx="1">
                  <c:v>Meridian Health</c:v>
                </c:pt>
                <c:pt idx="2">
                  <c:v>SMB Bulk (aggregated)</c:v>
                </c:pt>
                <c:pt idx="3">
                  <c:v>Northwind Labs</c:v>
                </c:pt>
                <c:pt idx="4">
                  <c:v>AtlasGrid</c:v>
                </c:pt>
                <c:pt idx="5">
                  <c:v>2026-08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1">
                  <c:v>150000.0</c:v>
                </c:pt>
                <c:pt idx="2">
                  <c:v>160000.0</c:v>
                </c:pt>
                <c:pt idx="3">
                  <c:v>169000.0</c:v>
                </c:pt>
                <c:pt idx="4">
                  <c:v>177000.0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F3864"/>
            </a:solidFill>
          </c:spPr>
          <c:dLbls>
            <c:numFmt formatCode="$#,##0;-$#,##0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2026-07</c:v>
                </c:pt>
                <c:pt idx="1">
                  <c:v>Meridian Health</c:v>
                </c:pt>
                <c:pt idx="2">
                  <c:v>SMB Bulk (aggregated)</c:v>
                </c:pt>
                <c:pt idx="3">
                  <c:v>Northwind Labs</c:v>
                </c:pt>
                <c:pt idx="4">
                  <c:v>AtlasGrid</c:v>
                </c:pt>
                <c:pt idx="5">
                  <c:v>2026-08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150000.0</c:v>
                </c:pt>
                <c:pt idx="5">
                  <c:v>183000.0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32"/>
            </a:solidFill>
          </c:spPr>
          <c:dLbls>
            <c:numFmt formatCode="$#,##0;-$#,##0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2026-07</c:v>
                </c:pt>
                <c:pt idx="1">
                  <c:v>Meridian Health</c:v>
                </c:pt>
                <c:pt idx="2">
                  <c:v>SMB Bulk (aggregated)</c:v>
                </c:pt>
                <c:pt idx="3">
                  <c:v>Northwind Labs</c:v>
                </c:pt>
                <c:pt idx="4">
                  <c:v>AtlasGrid</c:v>
                </c:pt>
                <c:pt idx="5">
                  <c:v>2026-08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1">
                  <c:v>10000.0</c:v>
                </c:pt>
                <c:pt idx="2">
                  <c:v>9000.0</c:v>
                </c:pt>
                <c:pt idx="3">
                  <c:v>8000.0</c:v>
                </c:pt>
                <c:pt idx="4">
                  <c:v>6000.0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62828"/>
            </a:solidFill>
          </c:spPr>
          <c:dLbls>
            <c:numFmt formatCode="$#,##0;-$#,##0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2026-07</c:v>
                </c:pt>
                <c:pt idx="1">
                  <c:v>Meridian Health</c:v>
                </c:pt>
                <c:pt idx="2">
                  <c:v>SMB Bulk (aggregated)</c:v>
                </c:pt>
                <c:pt idx="3">
                  <c:v>Northwind Labs</c:v>
                </c:pt>
                <c:pt idx="4">
                  <c:v>AtlasGrid</c:v>
                </c:pt>
                <c:pt idx="5">
                  <c:v>2026-08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DE3EA"/>
            </a:solidFill>
          </a:ln>
        </c:spPr>
        <c:txPr>
          <a:bodyPr/>
          <a:lstStyle/>
          <a:p>
            <a:pPr>
              <a:defRPr sz="1000">
                <a:solidFill>
                  <a:srgbClr val="1F2A4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120000.0"/>
        </c:scaling>
        <c:delete val="0"/>
        <c:axPos val="l"/>
        <c:majorGridlines>
          <c:spPr>
            <a:ln w="6350">
              <a:solidFill>
                <a:srgbClr val="DDE3EA"/>
              </a:solidFill>
            </a:ln>
          </c:spPr>
        </c:majorGridlines>
        <c:numFmt formatCode="$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B677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77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Change</c:v>
                </c:pt>
              </c:strCache>
            </c:strRef>
          </c:tx>
          <c:invertIfNegative val="0"/>
          <c:dPt>
            <c:idx val="0"/>
            <c:spPr>
              <a:solidFill>
                <a:srgbClr val="2E7D32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dPt>
            <c:idx val="2"/>
            <c:spPr>
              <a:solidFill>
                <a:srgbClr val="2E7D32"/>
              </a:solidFill>
            </c:spPr>
          </c:dPt>
          <c:dPt>
            <c:idx val="3"/>
            <c:spPr>
              <a:solidFill>
                <a:srgbClr val="2E7D32"/>
              </a:solidFill>
            </c:spPr>
          </c:dPt>
          <c:dPt>
            <c:idx val="4"/>
            <c:spPr>
              <a:solidFill>
                <a:srgbClr val="2E7D32"/>
              </a:solidFill>
            </c:spPr>
          </c:dPt>
          <c:dLbls>
            <c:numFmt formatCode="$#,##0;-$#,##0" sourceLinked="0"/>
            <c:txPr>
              <a:bodyPr/>
              <a:lstStyle/>
              <a:p>
                <a:pPr>
                  <a:defRPr sz="1000" b="1">
                    <a:solidFill>
                      <a:srgbClr val="1F2A44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Meridian Health</c:v>
                </c:pt>
                <c:pt idx="1">
                  <c:v>SMB Bulk (aggregated)</c:v>
                </c:pt>
                <c:pt idx="2">
                  <c:v>Northwind Labs</c:v>
                </c:pt>
                <c:pt idx="3">
                  <c:v>AWS</c:v>
                </c:pt>
                <c:pt idx="4">
                  <c:v>AtlasGrid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10000.0</c:v>
                </c:pt>
                <c:pt idx="1">
                  <c:v>9000.0</c:v>
                </c:pt>
                <c:pt idx="2">
                  <c:v>8000.0</c:v>
                </c:pt>
                <c:pt idx="3">
                  <c:v>6400.0</c:v>
                </c:pt>
                <c:pt idx="4">
                  <c:v>6000.0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DDE3EA"/>
            </a:solidFill>
          </a:ln>
        </c:spPr>
        <c:txPr>
          <a:bodyPr/>
          <a:lstStyle/>
          <a:p>
            <a:pPr>
              <a:defRPr sz="1000">
                <a:solidFill>
                  <a:srgbClr val="1F2A4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numFmt formatCode="$#,##0;-$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B677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77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Duration (ms)</c:v>
                </c:pt>
              </c:strCache>
            </c:strRef>
          </c:tx>
          <c:spPr>
            <a:solidFill>
              <a:srgbClr val="2E75B6"/>
            </a:solidFill>
          </c:spPr>
          <c:dLbls>
            <c:numFmt formatCode="#,##0&quot; ms&quot;" sourceLinked="0"/>
            <c:txPr>
              <a:bodyPr/>
              <a:lstStyle/>
              <a:p>
                <a:pPr>
                  <a:defRPr sz="900">
                    <a:solidFill>
                      <a:srgbClr val="1F2A44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Profile Builder</c:v>
                </c:pt>
                <c:pt idx="1">
                  <c:v>Data QA</c:v>
                </c:pt>
                <c:pt idx="2">
                  <c:v>Analytics Engine</c:v>
                </c:pt>
                <c:pt idx="3">
                  <c:v>Memory Agent</c:v>
                </c:pt>
                <c:pt idx="4">
                  <c:v>RAG Agent</c:v>
                </c:pt>
                <c:pt idx="5">
                  <c:v>Analyst</c:v>
                </c:pt>
                <c:pt idx="6">
                  <c:v>Safety Guardrail</c:v>
                </c:pt>
                <c:pt idx="7">
                  <c:v>Stress Test</c:v>
                </c:pt>
                <c:pt idx="8">
                  <c:v>Report Writer</c:v>
                </c:pt>
                <c:pt idx="9">
                  <c:v>Memory Update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26</c:v>
                </c:pt>
                <c:pt idx="1">
                  <c:v>15</c:v>
                </c:pt>
                <c:pt idx="2">
                  <c:v>12</c:v>
                </c:pt>
                <c:pt idx="3">
                  <c:v>8</c:v>
                </c:pt>
                <c:pt idx="4">
                  <c:v>11</c:v>
                </c:pt>
                <c:pt idx="5">
                  <c:v>5621</c:v>
                </c:pt>
                <c:pt idx="6">
                  <c:v>8965</c:v>
                </c:pt>
                <c:pt idx="7">
                  <c:v>0</c:v>
                </c:pt>
                <c:pt idx="8">
                  <c:v>3379</c:v>
                </c:pt>
                <c:pt idx="9">
                  <c:v>77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DDE3EA"/>
            </a:solidFill>
          </a:ln>
        </c:spPr>
        <c:txPr>
          <a:bodyPr/>
          <a:lstStyle/>
          <a:p>
            <a:pPr>
              <a:defRPr sz="1000">
                <a:solidFill>
                  <a:srgbClr val="1F2A4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206.25"/>
        </c:scaling>
        <c:delete/>
        <c:axPos val="b"/>
        <c:numFmt formatCode="#,##0&quot; ms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B677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77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Subscription revenue jumped $33K MoM, driven by four key accounts; cloud hosting costs rose $6.4K due to AWS. Revenue moved from $150K to $183K. The rest of the deck explains why, how sure we are, and what we do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and approach. Stress that numbers are computed in code, not generated by the model, and every fact keeps a pointer to the transactions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chart left to right: opening revenue, each driver's contribution, closing revenue. Green bars add revenue, red bars subtract. The bars tie exactly to both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Drivers are counterparties or revenue lines whose totals moved most. Each carries a confidence score derived from its evidence; low-confidence rows deserve a human look before external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Assurance. 10/10 numbers verified. Data quality 100%, overall confidence 88%. This is the answer to 'can I trust this?'.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DemoCo's subscription revenue rose $33K MoM to $183K, driven by four key accounts (Meridian Health $10K, SMB Bulk $9K, Northwind Labs $8K, AtlasGrid $6K), while cloud hosting costs increased $6.4K to $35.5K due entirely to higher AWS usage. The top three drivers account for 81.8% of the revenue lift, highlighting concentration risk.</a:t>
            </a:r>
          </a:p>
          <a:p/>
          <a:p>
            <a:r>
              <a:t>Risks: The subscription revenue increase is highly concentrated: 81.8% of the lift comes from the top three customers, raising reliance risk.; Statistical significance cannot be assessed due to insufficient historical data for both revenue and hosting variances.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asks. The open questions on the left come straight from the analysis; the roadmap is the proposal.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CC3E8"/>
                </a:solidFill>
                <a:latin typeface="Calibri"/>
              </a:rPr>
              <a:t>LEDGERLIGHT  |  REVENUE VARIANCE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DemoCo: revenue grew $33K (22.0%) from 2026-07 to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C9D6EA"/>
                </a:solidFill>
                <a:latin typeface="Calibri"/>
              </a:rPr>
              <a:t>Subscription revenue jumped $33K MoM, driven by four key accounts; cloud hosting costs rose $6.4K due to AWS.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97680"/>
            <a:ext cx="2606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4297680"/>
            <a:ext cx="54864" cy="1234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43484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B6778"/>
                </a:solidFill>
                <a:latin typeface="Calibri"/>
              </a:rPr>
              <a:t>2026-07 REVENUE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54880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/>
              </a:rPr>
              <a:t>$150K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4297680"/>
            <a:ext cx="2606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4297680"/>
            <a:ext cx="54864" cy="1234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443484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B6778"/>
                </a:solidFill>
                <a:latin typeface="Calibri"/>
              </a:rPr>
              <a:t>2026-08 REVENUE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4754880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/>
              </a:rPr>
              <a:t>$183K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4297680"/>
            <a:ext cx="2606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429768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43484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B6778"/>
                </a:solidFill>
                <a:latin typeface="Calibri"/>
              </a:rPr>
              <a:t>NET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754880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2E7D32"/>
                </a:solidFill>
                <a:latin typeface="Calibri"/>
              </a:rPr>
              <a:t>+$33K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4297680"/>
            <a:ext cx="2606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5400" y="4297680"/>
            <a:ext cx="54864" cy="1234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43484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B6778"/>
                </a:solidFill>
                <a:latin typeface="Calibri"/>
              </a:rPr>
              <a:t>DATA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754880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9D6EA"/>
                </a:solidFill>
                <a:latin typeface="Calibri"/>
              </a:rPr>
              <a:t>Prepared for leadership and partner teams  |  Run run_a11afc9dbb3f  |  Every figure traced to source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Explaining a revenue swing takes days and is hard to audit; we made it traceable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00800"/>
            <a:ext cx="110944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6480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778"/>
                </a:solidFill>
                <a:latin typeface="Calibri"/>
              </a:rPr>
              <a:t>Ledgerlight  |  DemoCo  |  2026-07 to 2026-08  |  Run run_a11afc9dbb3f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The problem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84248"/>
            <a:ext cx="457200" cy="254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53949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lnSpc>
                <a:spcPct val="105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400" b="0">
                <a:solidFill>
                  <a:srgbClr val="1F2A44"/>
                </a:solidFill>
                <a:latin typeface="Calibri"/>
              </a:rPr>
              <a:t>Finance teams reconcile month-on-month revenue by hand across ledgers, exports and spreadsheets.</a:t>
            </a:r>
          </a:p>
          <a:p>
            <a:pPr algn="l" marL="182880" indent="-182880">
              <a:lnSpc>
                <a:spcPct val="105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400" b="0">
                <a:solidFill>
                  <a:srgbClr val="1F2A44"/>
                </a:solidFill>
                <a:latin typeface="Calibri"/>
              </a:rPr>
              <a:t>Narratives drift from the numbers: a figure quoted in a board note is rarely linked to the entries behind it.</a:t>
            </a:r>
          </a:p>
          <a:p>
            <a:pPr algn="l" marL="182880" indent="-182880">
              <a:lnSpc>
                <a:spcPct val="105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400" b="0">
                <a:solidFill>
                  <a:srgbClr val="1F2A44"/>
                </a:solidFill>
                <a:latin typeface="Calibri"/>
              </a:rPr>
              <a:t>Leaders need three answers fast: what moved, why, and how much to trust the explanation.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526280"/>
            <a:ext cx="539496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6451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B6778"/>
                </a:solidFill>
                <a:latin typeface="Calibri"/>
              </a:rPr>
              <a:t>SCOPE OF THIS 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645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046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B6778"/>
                </a:solidFill>
                <a:latin typeface="Calibri"/>
              </a:rPr>
              <a:t>transactions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4983480"/>
            <a:ext cx="1645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55046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B6778"/>
                </a:solidFill>
                <a:latin typeface="Calibri"/>
              </a:rPr>
              <a:t>computed facts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4983480"/>
            <a:ext cx="1645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55046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B6778"/>
                </a:solidFill>
                <a:latin typeface="Calibri"/>
              </a:rPr>
              <a:t>evidence links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338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B6778"/>
                </a:solidFill>
                <a:latin typeface="Calibri"/>
              </a:rPr>
              <a:t>2026-07 vs 2026-08  |  DemoCo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691640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Our approach: a pipeline of specialised 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984248"/>
            <a:ext cx="457200" cy="254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0" y="2148840"/>
            <a:ext cx="329184" cy="32918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89988"/>
            <a:ext cx="329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185416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A44"/>
                </a:solidFill>
                <a:latin typeface="Calibri"/>
              </a:rPr>
              <a:t>Profile Builder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60820" y="2496312"/>
            <a:ext cx="12700" cy="10972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0" y="2624328"/>
            <a:ext cx="329184" cy="32918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665476"/>
            <a:ext cx="329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2660904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A44"/>
                </a:solidFill>
                <a:latin typeface="Calibri"/>
              </a:rPr>
              <a:t>Data QA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60820" y="2971800"/>
            <a:ext cx="12700" cy="10972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0" y="3099816"/>
            <a:ext cx="329184" cy="32918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140964"/>
            <a:ext cx="329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136392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A44"/>
                </a:solidFill>
                <a:latin typeface="Calibri"/>
              </a:rPr>
              <a:t>Analytics Engine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60820" y="3447288"/>
            <a:ext cx="12700" cy="10972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00800" y="3575304"/>
            <a:ext cx="329184" cy="32918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616452"/>
            <a:ext cx="329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361188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A44"/>
                </a:solidFill>
                <a:latin typeface="Calibri"/>
              </a:rPr>
              <a:t>Memory Agent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60820" y="3922776"/>
            <a:ext cx="12700" cy="10972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00800" y="4050792"/>
            <a:ext cx="329184" cy="32918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091940"/>
            <a:ext cx="329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4087368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A44"/>
                </a:solidFill>
                <a:latin typeface="Calibri"/>
              </a:rPr>
              <a:t>RAG Agent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60820" y="4398264"/>
            <a:ext cx="12700" cy="10972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00800" y="4526280"/>
            <a:ext cx="329184" cy="32918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567428"/>
            <a:ext cx="329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4562856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A44"/>
                </a:solidFill>
                <a:latin typeface="Calibri"/>
              </a:rPr>
              <a:t>Analyst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60820" y="4873752"/>
            <a:ext cx="12700" cy="10972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00800" y="5001768"/>
            <a:ext cx="329184" cy="32918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5042916"/>
            <a:ext cx="329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5038344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A44"/>
                </a:solidFill>
                <a:latin typeface="Calibri"/>
              </a:rPr>
              <a:t>Safety Guardrail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60820" y="5349240"/>
            <a:ext cx="12700" cy="10972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400800" y="5477256"/>
            <a:ext cx="329184" cy="32918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5518404"/>
            <a:ext cx="329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03720" y="5513832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A44"/>
                </a:solidFill>
                <a:latin typeface="Calibri"/>
              </a:rPr>
              <a:t>Stress Test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989320"/>
            <a:ext cx="5242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B6778"/>
                </a:solidFill>
                <a:latin typeface="Calibri"/>
              </a:rPr>
              <a:t>Deterministic maths computes every figure; the language model only explains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ANALYSIS  |  REVENUE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Revenue moved +$33K (+22.0%); Meridian Health was the largest lift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00800"/>
            <a:ext cx="110944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6480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778"/>
                </a:solidFill>
                <a:latin typeface="Calibri"/>
              </a:rPr>
              <a:t>Ledgerlight  |  DemoCo  |  2026-07 to 2026-08  |  Run run_a11afc9dbb3f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77724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737360"/>
          <a:ext cx="758952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5916168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B6778"/>
                </a:solidFill>
                <a:latin typeface="Calibri"/>
              </a:rPr>
              <a:t>Green adds revenue, red reduces it. Vertical axis is truncated to make the movements visible.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047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How to read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938528"/>
            <a:ext cx="457200" cy="254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2103120"/>
            <a:ext cx="304769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lnSpc>
                <a:spcPct val="105000"/>
              </a:lnSpc>
              <a:spcAft>
                <a:spcPts val="800"/>
              </a:spcAft>
              <a:buClr>
                <a:srgbClr val="2E75B6"/>
              </a:buClr>
              <a:buChar char="•"/>
            </a:pPr>
            <a:r>
              <a:rPr sz="1300" b="0">
                <a:solidFill>
                  <a:srgbClr val="1F2A44"/>
                </a:solidFill>
                <a:latin typeface="Calibri"/>
              </a:rPr>
              <a:t>Starts at $150K in 2026-07 and ends at $183K in 2026-08.</a:t>
            </a:r>
          </a:p>
          <a:p>
            <a:pPr algn="l" marL="182880" indent="-182880">
              <a:lnSpc>
                <a:spcPct val="105000"/>
              </a:lnSpc>
              <a:spcAft>
                <a:spcPts val="800"/>
              </a:spcAft>
              <a:buClr>
                <a:srgbClr val="2E75B6"/>
              </a:buClr>
              <a:buChar char="•"/>
            </a:pPr>
            <a:r>
              <a:rPr sz="1300" b="0">
                <a:solidFill>
                  <a:srgbClr val="1F2A44"/>
                </a:solidFill>
                <a:latin typeface="Calibri"/>
              </a:rPr>
              <a:t>Biggest lift: Meridian Health, +$10K.</a:t>
            </a:r>
          </a:p>
          <a:p>
            <a:pPr algn="l" marL="182880" indent="-182880">
              <a:lnSpc>
                <a:spcPct val="105000"/>
              </a:lnSpc>
              <a:spcAft>
                <a:spcPts val="800"/>
              </a:spcAft>
              <a:buClr>
                <a:srgbClr val="2E75B6"/>
              </a:buClr>
              <a:buChar char="•"/>
            </a:pPr>
            <a:r>
              <a:rPr sz="1300" b="0">
                <a:solidFill>
                  <a:srgbClr val="1F2A44"/>
                </a:solidFill>
                <a:latin typeface="Calibri"/>
              </a:rPr>
              <a:t>Drivers fully explain the movement; no unattributed remainder.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60" y="4937760"/>
            <a:ext cx="304769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5047488"/>
            <a:ext cx="26819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B6778"/>
                </a:solidFill>
                <a:latin typeface="Calibri"/>
              </a:rPr>
              <a:t>SO WHAT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5321808"/>
            <a:ext cx="26819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E7D32"/>
                </a:solidFill>
                <a:latin typeface="Calibri"/>
              </a:rPr>
              <a:t>4 drivers added revenue and 0 reduced it; the net effect is +$33K.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ANALYSIS  |  DRIVERS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Meridian Health alone accounts for +$10K of the movement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00800"/>
            <a:ext cx="110944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6480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778"/>
                </a:solidFill>
                <a:latin typeface="Calibri"/>
              </a:rPr>
              <a:t>Ledgerlight  |  DemoCo  |  2026-07 to 2026-08  |  Run run_a11afc9dbb3f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Change by driver, largest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38528"/>
            <a:ext cx="457200" cy="254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057400"/>
            <a:ext cx="512064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94360" y="2103120"/>
          <a:ext cx="502920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43600" y="1645920"/>
            <a:ext cx="5699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Ranked drivers with confidence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938528"/>
            <a:ext cx="457200" cy="254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0" y="2103120"/>
          <a:ext cx="5699452" cy="208483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72892"/>
                <a:gridCol w="1344815"/>
                <a:gridCol w="768465"/>
                <a:gridCol w="832504"/>
                <a:gridCol w="704427"/>
                <a:gridCol w="576349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Account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Prior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% chg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Conf.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Meridian Health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Subscription revenue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+$10K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+100.0%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SMB Bulk (aggregated)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Subscription revenue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$132K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+$9.0K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+6.8%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Northwind Labs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Subscription revenue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+$8.0K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+80.0%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AWS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Cloud hosting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+$6.4K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+22.0%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AtlasGrid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Subscription revenue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$8.0K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+$6.0K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+75.0%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943600" y="4297680"/>
            <a:ext cx="56994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B6778"/>
                </a:solidFill>
                <a:latin typeface="Calibri"/>
              </a:rPr>
              <a:t>Prior is the driver's own total in the earlier period; % chg is measured against it. Confidence reflects how completely evidence supports each figure.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4892040"/>
            <a:ext cx="569945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4892040"/>
            <a:ext cx="54864" cy="1325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4983480"/>
            <a:ext cx="53336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B6778"/>
                </a:solidFill>
                <a:latin typeface="Calibri"/>
              </a:rPr>
              <a:t>CONCENTRATION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5239512"/>
            <a:ext cx="53336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The top three drivers explain 82% of the net change across 5 drivers; average confidence is 88%.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Every number is verified against source data before it reaches a slide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00800"/>
            <a:ext cx="110944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6480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778"/>
                </a:solidFill>
                <a:latin typeface="Calibri"/>
              </a:rPr>
              <a:t>Ledgerlight  |  DemoCo  |  2026-07 to 2026-08  |  Run run_a11afc9dbb3f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265176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143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1965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B6778"/>
                </a:solidFill>
                <a:latin typeface="Calibri"/>
              </a:rPr>
              <a:t>DATA QUALITY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12264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F2A44"/>
                </a:solidFill>
                <a:latin typeface="Calibri"/>
              </a:rPr>
              <a:t>100%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691640"/>
            <a:ext cx="265176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691640"/>
            <a:ext cx="54864" cy="1143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81965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B6778"/>
                </a:solidFill>
                <a:latin typeface="Calibri"/>
              </a:rPr>
              <a:t>OVERALL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112264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F2A44"/>
                </a:solidFill>
                <a:latin typeface="Calibri"/>
              </a:rPr>
              <a:t>88%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691640"/>
            <a:ext cx="265176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691640"/>
            <a:ext cx="54864" cy="1143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1965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B6778"/>
                </a:solidFill>
                <a:latin typeface="Calibri"/>
              </a:rPr>
              <a:t>NUMBERS VERIFIED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112264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2E7D32"/>
                </a:solidFill>
                <a:latin typeface="Calibri"/>
              </a:rPr>
              <a:t>10/10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691640"/>
            <a:ext cx="265176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1691640"/>
            <a:ext cx="54864" cy="1143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81965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B6778"/>
                </a:solidFill>
                <a:latin typeface="Calibri"/>
              </a:rPr>
              <a:t>GUARDRAIL 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112264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F2A44"/>
                </a:solidFill>
                <a:latin typeface="Calibri"/>
              </a:rPr>
              <a:t>Approved With Caveats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063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Agent run: time spent per stage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55848"/>
            <a:ext cx="457200" cy="254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474720"/>
            <a:ext cx="640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594360" y="3520440"/>
          <a:ext cx="630936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223760" y="3063240"/>
            <a:ext cx="4419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What backs each claim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355848"/>
            <a:ext cx="457200" cy="254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0" y="3520440"/>
            <a:ext cx="441929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lnSpc>
                <a:spcPct val="105000"/>
              </a:lnSpc>
              <a:spcAft>
                <a:spcPts val="8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Figures are computed in code from the ledger, not written by the language model.</a:t>
            </a:r>
          </a:p>
          <a:p>
            <a:pPr algn="l" marL="182880" indent="-182880">
              <a:lnSpc>
                <a:spcPct val="105000"/>
              </a:lnSpc>
              <a:spcAft>
                <a:spcPts val="8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9 facts link to 10 source transactions, down to file and row.</a:t>
            </a:r>
          </a:p>
          <a:p>
            <a:pPr algn="l" marL="182880" indent="-182880">
              <a:lnSpc>
                <a:spcPct val="105000"/>
              </a:lnSpc>
              <a:spcAft>
                <a:spcPts val="8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Quoted numbers in the narrative are checked against those facts; anything unverified is flagged.</a:t>
            </a:r>
          </a:p>
          <a:p>
            <a:pPr algn="l" marL="182880" indent="-182880">
              <a:lnSpc>
                <a:spcPct val="105000"/>
              </a:lnSpc>
              <a:spcAft>
                <a:spcPts val="8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Guardrails screen the uploaded data for injected instructions and formula-style content.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leadership should take away, and what to keep in mind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00800"/>
            <a:ext cx="110944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6480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778"/>
                </a:solidFill>
                <a:latin typeface="Calibri"/>
              </a:rPr>
              <a:t>Ledgerlight  |  DemoCo  |  2026-07 to 2026-08  |  Run run_a11afc9dbb3f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Key findings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84248"/>
            <a:ext cx="457200" cy="254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2148840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1284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148840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A44"/>
                </a:solidFill>
                <a:latin typeface="Calibri"/>
              </a:rPr>
              <a:t>Revenue rose $33K (22.0%) to $183K.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953512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53512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A44"/>
                </a:solidFill>
                <a:latin typeface="Calibri"/>
              </a:rPr>
              <a:t>Meridian Health was the largest positive driver at +$10K.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758184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2219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758184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A44"/>
                </a:solidFill>
                <a:latin typeface="Calibri"/>
              </a:rPr>
              <a:t>The top three drivers explain 82% of the change across 5 drivers, so growth is concentrated.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562856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2686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562856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F2A44"/>
                </a:solidFill>
                <a:latin typeface="Calibri"/>
              </a:rPr>
              <a:t>The explanation is evidence-backed: 10/10 numbers verified, data quality 100%.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1691640"/>
            <a:ext cx="5059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Risks and caveats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984248"/>
            <a:ext cx="457200" cy="254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0" y="2148840"/>
            <a:ext cx="5059375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286000"/>
            <a:ext cx="460217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2E75B6"/>
              </a:buClr>
              <a:buChar char="•"/>
            </a:pPr>
            <a:r>
              <a:rPr sz="1200" b="0">
                <a:solidFill>
                  <a:srgbClr val="1F2A44"/>
                </a:solidFill>
                <a:latin typeface="Calibri"/>
              </a:rPr>
              <a:t>The subscription revenue increase is highly concentrated: 81.8% of the lift comes from the top three customers, raising reliance risk.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2E75B6"/>
              </a:buClr>
              <a:buChar char="•"/>
            </a:pPr>
            <a:r>
              <a:rPr sz="1200" b="0">
                <a:solidFill>
                  <a:srgbClr val="1F2A44"/>
                </a:solidFill>
                <a:latin typeface="Calibri"/>
              </a:rPr>
              <a:t>Statistical significance cannot be assessed due to insufficient historical data for both revenue and hosting variances.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4617720"/>
            <a:ext cx="5059375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727448"/>
            <a:ext cx="4602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B6778"/>
                </a:solidFill>
                <a:latin typeface="Calibri"/>
              </a:rPr>
              <a:t>BOARD UPDATE, ONE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5029200"/>
            <a:ext cx="460217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>
                <a:solidFill>
                  <a:srgbClr val="1F2A44"/>
                </a:solidFill>
                <a:latin typeface="Calibri"/>
              </a:rPr>
              <a:t>DemoCo's subscription revenue rose $33K MoM to $183K, driven by four key accounts (Meridian Health $10K, SMB Bulk $9K, Northwind Labs $8K, AtlasGrid $6K), while cloud hosting costs increased $6.4K to $35.5K due entirely to higher…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From a one-off analysis to a monthly, always-on revenue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00800"/>
            <a:ext cx="110944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6480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778"/>
                </a:solidFill>
                <a:latin typeface="Calibri"/>
              </a:rPr>
              <a:t>Ledgerlight  |  DemoCo  |  2026-07 to 2026-08  |  Run run_a11afc9dbb3f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648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3515258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3515258" cy="548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305805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Calibri"/>
              </a:rPr>
              <a:t>Open questions from this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3058058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Are there any upcoming contract renewals or expansions with Meridian Health, SMB Bulk, Northwind Labs, o…</a:t>
            </a:r>
          </a:p>
          <a:p>
            <a:pPr algn="l" marL="182880" indent="-182880">
              <a:lnSpc>
                <a:spcPct val="100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What is the expected AWS usage trend for the next periods, and are there any cost‑optimization initiativ…</a:t>
            </a:r>
          </a:p>
          <a:p>
            <a:pPr algn="l" marL="182880" indent="-182880">
              <a:lnSpc>
                <a:spcPct val="100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Do we have visibility into churn or downgrade risk among these top contributors?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691640"/>
            <a:ext cx="3515258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691640"/>
            <a:ext cx="3515258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6818" y="1874519"/>
            <a:ext cx="305805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Calibri"/>
              </a:rPr>
              <a:t>Product roadmap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6818" y="2377440"/>
            <a:ext cx="3058058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Multi-period trends and seasonality, beyond a two-period comparison</a:t>
            </a:r>
          </a:p>
          <a:p>
            <a:pPr algn="l" marL="182880" indent="-182880">
              <a:lnSpc>
                <a:spcPct val="100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Forecasting and what-if scenarios on the top drivers</a:t>
            </a:r>
          </a:p>
          <a:p>
            <a:pPr algn="l" marL="182880" indent="-182880">
              <a:lnSpc>
                <a:spcPct val="100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Live connectors to the ledger and billing systems</a:t>
            </a:r>
          </a:p>
          <a:p>
            <a:pPr algn="l" marL="182880" indent="-182880">
              <a:lnSpc>
                <a:spcPct val="100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Scheduled monthly board pack, delivered automatically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7796" y="1691640"/>
            <a:ext cx="3515258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27796" y="1691640"/>
            <a:ext cx="3515258" cy="5486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6396" y="1874519"/>
            <a:ext cx="305805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Calibri"/>
              </a:rPr>
              <a:t>Asks of this audience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6396" y="2377440"/>
            <a:ext cx="3058058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Confirm the drivers and caveats on slide 6 with account owners</a:t>
            </a:r>
          </a:p>
          <a:p>
            <a:pPr algn="l" marL="182880" indent="-182880">
              <a:lnSpc>
                <a:spcPct val="100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Nominate a pilot team and data source for the next close</a:t>
            </a:r>
          </a:p>
          <a:p>
            <a:pPr algn="l" marL="182880" indent="-182880">
              <a:lnSpc>
                <a:spcPct val="100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Agree the confidence threshold for external reporting</a:t>
            </a:r>
          </a:p>
          <a:p>
            <a:pPr algn="l" marL="182880" indent="-182880">
              <a:lnSpc>
                <a:spcPct val="100000"/>
              </a:lnSpc>
              <a:spcAft>
                <a:spcPts val="900"/>
              </a:spcAft>
              <a:buClr>
                <a:srgbClr val="2E75B6"/>
              </a:buClr>
              <a:buChar char="•"/>
            </a:pPr>
            <a:r>
              <a:rPr sz="1250" b="0">
                <a:solidFill>
                  <a:srgbClr val="1F2A44"/>
                </a:solidFill>
                <a:latin typeface="Calibri"/>
              </a:rPr>
              <a:t>Review the Power BI report for the same run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715000"/>
            <a:ext cx="1109441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715000"/>
            <a:ext cx="1054577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Next step: agree the pilot scope and run this review on the next period close.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
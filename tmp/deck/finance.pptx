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Base</c:v>
                </c:pt>
              </c:strCache>
            </c:strRef>
          </c:tx>
          <c:spPr>
            <a:noFill/>
            <a:ln>
              <a:noFill/>
            </a:ln>
          </c:spPr>
          <c:cat>
            <c:strRef>
              <c:f>Sheet1!$A$2:$A$7</c:f>
              <c:strCache>
                <c:ptCount val="6"/>
                <c:pt idx="0">
                  <c:v>2026-07</c:v>
                </c:pt>
                <c:pt idx="1">
                  <c:v>Meridian Health (+6.7%)</c:v>
                </c:pt>
                <c:pt idx="2">
                  <c:v>SMB Bulk (aggregated) (+6.0%)</c:v>
                </c:pt>
                <c:pt idx="3">
                  <c:v>Northwind Labs (+5.3%)</c:v>
                </c:pt>
                <c:pt idx="4">
                  <c:v>AtlasGrid (+4.0%)</c:v>
                </c:pt>
                <c:pt idx="5">
                  <c:v>2026-08</c:v>
                </c:pt>
              </c:strCache>
            </c:strRef>
          </c:cat>
          <c:val>
            <c:numRef>
              <c:f>Sheet1!$B$2:$B$7</c:f>
              <c:numCache>
                <c:formatCode>General</c:formatCode>
                <c:ptCount val="6"/>
                <c:pt idx="1">
                  <c:v>150000.0</c:v>
                </c:pt>
                <c:pt idx="2">
                  <c:v>160000.0</c:v>
                </c:pt>
                <c:pt idx="3">
                  <c:v>169000.0</c:v>
                </c:pt>
                <c:pt idx="4">
                  <c:v>177000.0</c:v>
                </c:pt>
              </c:numCache>
            </c:numRef>
          </c:val>
        </c:ser>
        <c:ser>
          <c:idx val="1"/>
          <c:order val="1"/>
          <c:tx>
            <c:strRef>
              <c:f>Sheet1!$C$1</c:f>
              <c:strCache>
                <c:ptCount val="1"/>
                <c:pt idx="0">
                  <c:v>Total</c:v>
                </c:pt>
              </c:strCache>
            </c:strRef>
          </c:tx>
          <c:spPr>
            <a:solidFill>
              <a:srgbClr val="1F3864"/>
            </a:solidFill>
          </c:spPr>
          <c:dLbls>
            <c:numFmt formatCode="[&gt;=10000]$#,##0,&quot;K&quot;;$#,##0.0,&quot;K&quot;"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cat>
            <c:strRef>
              <c:f>Sheet1!$A$2:$A$7</c:f>
              <c:strCache>
                <c:ptCount val="6"/>
                <c:pt idx="0">
                  <c:v>2026-07</c:v>
                </c:pt>
                <c:pt idx="1">
                  <c:v>Meridian Health (+6.7%)</c:v>
                </c:pt>
                <c:pt idx="2">
                  <c:v>SMB Bulk (aggregated) (+6.0%)</c:v>
                </c:pt>
                <c:pt idx="3">
                  <c:v>Northwind Labs (+5.3%)</c:v>
                </c:pt>
                <c:pt idx="4">
                  <c:v>AtlasGrid (+4.0%)</c:v>
                </c:pt>
                <c:pt idx="5">
                  <c:v>2026-08</c:v>
                </c:pt>
              </c:strCache>
            </c:strRef>
          </c:cat>
          <c:val>
            <c:numRef>
              <c:f>Sheet1!$C$2:$C$7</c:f>
              <c:numCache>
                <c:formatCode>General</c:formatCode>
                <c:ptCount val="6"/>
                <c:pt idx="0">
                  <c:v>150000.0</c:v>
                </c:pt>
                <c:pt idx="5">
                  <c:v>183000.0</c:v>
                </c:pt>
              </c:numCache>
            </c:numRef>
          </c:val>
        </c:ser>
        <c:ser>
          <c:idx val="2"/>
          <c:order val="2"/>
          <c:tx>
            <c:strRef>
              <c:f>Sheet1!$D$1</c:f>
              <c:strCache>
                <c:ptCount val="1"/>
                <c:pt idx="0">
                  <c:v>Increase</c:v>
                </c:pt>
              </c:strCache>
            </c:strRef>
          </c:tx>
          <c:spPr>
            <a:solidFill>
              <a:srgbClr val="2E7D32"/>
            </a:solidFill>
          </c:spPr>
          <c:dLbls>
            <c:numFmt formatCode="[&gt;=10000]$#,##0,&quot;K&quot;;$#,##0.0,&quot;K&quot;" sourceLinked="0"/>
            <c:txPr>
              <a:bodyPr/>
              <a:lstStyle/>
              <a:p>
                <a:pPr>
                  <a:defRPr sz="1000" b="1">
                    <a:solidFill>
                      <a:srgbClr val="FFFFFF"/>
                    </a:solidFill>
                  </a:defRPr>
                </a:pPr>
              </a:p>
            </c:txPr>
            <c:dLblPos val="ctr"/>
            <c:showLegendKey val="0"/>
            <c:showVal val="1"/>
            <c:showCatName val="0"/>
            <c:showSerName val="0"/>
            <c:showPercent val="0"/>
            <c:showBubbleSize val="0"/>
            <c:showLeaderLines val="1"/>
          </c:dLbls>
          <c:cat>
            <c:strRef>
              <c:f>Sheet1!$A$2:$A$7</c:f>
              <c:strCache>
                <c:ptCount val="6"/>
                <c:pt idx="0">
                  <c:v>2026-07</c:v>
                </c:pt>
                <c:pt idx="1">
                  <c:v>Meridian Health (+6.7%)</c:v>
                </c:pt>
                <c:pt idx="2">
                  <c:v>SMB Bulk (aggregated) (+6.0%)</c:v>
                </c:pt>
                <c:pt idx="3">
                  <c:v>Northwind Labs (+5.3%)</c:v>
                </c:pt>
                <c:pt idx="4">
                  <c:v>AtlasGrid (+4.0%)</c:v>
                </c:pt>
                <c:pt idx="5">
                  <c:v>2026-08</c:v>
                </c:pt>
              </c:strCache>
            </c:strRef>
          </c:cat>
          <c:val>
            <c:numRef>
              <c:f>Sheet1!$D$2:$D$7</c:f>
              <c:numCache>
                <c:formatCode>General</c:formatCode>
                <c:ptCount val="6"/>
                <c:pt idx="1">
                  <c:v>10000.0</c:v>
                </c:pt>
                <c:pt idx="2">
                  <c:v>9000.0</c:v>
                </c:pt>
                <c:pt idx="3">
                  <c:v>8000.0</c:v>
                </c:pt>
                <c:pt idx="4">
                  <c:v>6000.0</c:v>
                </c:pt>
              </c:numCache>
            </c:numRef>
          </c:val>
        </c:ser>
        <c:ser>
          <c:idx val="3"/>
          <c:order val="3"/>
          <c:tx>
            <c:strRef>
              <c:f>Sheet1!$E$1</c:f>
              <c:strCache>
                <c:ptCount val="1"/>
                <c:pt idx="0">
                  <c:v>Decrease</c:v>
                </c:pt>
              </c:strCache>
            </c:strRef>
          </c:tx>
          <c:spPr>
            <a:solidFill>
              <a:srgbClr val="C62828"/>
            </a:solidFill>
          </c:spPr>
          <c:dLbls>
            <c:numFmt formatCode="[&gt;=10000]$#,##0,&quot;K&quot;;$#,##0.0,&quot;K&quot;" sourceLinked="0"/>
            <c:txPr>
              <a:bodyPr/>
              <a:lstStyle/>
              <a:p>
                <a:pPr>
                  <a:defRPr sz="1000" b="1">
                    <a:solidFill>
                      <a:srgbClr val="FFFFFF"/>
                    </a:solidFill>
                  </a:defRPr>
                </a:pPr>
              </a:p>
            </c:txPr>
            <c:dLblPos val="ctr"/>
            <c:showLegendKey val="0"/>
            <c:showVal val="1"/>
            <c:showCatName val="0"/>
            <c:showSerName val="0"/>
            <c:showPercent val="0"/>
            <c:showBubbleSize val="0"/>
            <c:showLeaderLines val="1"/>
          </c:dLbls>
          <c:cat>
            <c:strRef>
              <c:f>Sheet1!$A$2:$A$7</c:f>
              <c:strCache>
                <c:ptCount val="6"/>
                <c:pt idx="0">
                  <c:v>2026-07</c:v>
                </c:pt>
                <c:pt idx="1">
                  <c:v>Meridian Health (+6.7%)</c:v>
                </c:pt>
                <c:pt idx="2">
                  <c:v>SMB Bulk (aggregated) (+6.0%)</c:v>
                </c:pt>
                <c:pt idx="3">
                  <c:v>Northwind Labs (+5.3%)</c:v>
                </c:pt>
                <c:pt idx="4">
                  <c:v>AtlasGrid (+4.0%)</c:v>
                </c:pt>
                <c:pt idx="5">
                  <c:v>2026-08</c:v>
                </c:pt>
              </c:strCache>
            </c:strRef>
          </c:cat>
          <c:val>
            <c:numRef>
              <c:f>Sheet1!$E$2:$E$7</c:f>
              <c:numCache>
                <c:formatCode>General</c:formatCode>
                <c:ptCount val="6"/>
              </c:numCache>
            </c:numRef>
          </c:val>
        </c:ser>
        <c:gapWidth val="45"/>
        <c:overlap val="100"/>
        <c:axId val="-2068027336"/>
        <c:axId val="-2113994440"/>
      </c:barChart>
      <c:catAx>
        <c:axId val="-2068027336"/>
        <c:scaling>
          <c:orientation val="minMax"/>
        </c:scaling>
        <c:delete val="0"/>
        <c:axPos val="b"/>
        <c:majorTickMark val="out"/>
        <c:minorTickMark val="none"/>
        <c:tickLblPos val="low"/>
        <c:spPr>
          <a:ln>
            <a:solidFill>
              <a:srgbClr val="DDE3EA"/>
            </a:solidFill>
          </a:ln>
        </c:spPr>
        <c:txPr>
          <a:bodyPr/>
          <a:lstStyle/>
          <a:p>
            <a:pPr>
              <a:defRPr sz="1000">
                <a:solidFill>
                  <a:srgbClr val="1F2A44"/>
                </a:solidFill>
              </a:defRPr>
            </a:pPr>
          </a:p>
        </c:txPr>
        <c:crossAx val="-2113994440"/>
        <c:crosses val="autoZero"/>
        <c:auto val="1"/>
        <c:lblAlgn val="ctr"/>
        <c:lblOffset val="100"/>
        <c:noMultiLvlLbl val="0"/>
      </c:catAx>
      <c:valAx>
        <c:axId val="-2113994440"/>
        <c:scaling>
          <c:min val="120000.0"/>
        </c:scaling>
        <c:delete val="0"/>
        <c:axPos val="l"/>
        <c:majorGridlines>
          <c:spPr>
            <a:ln w="6350">
              <a:solidFill>
                <a:srgbClr val="DDE3EA"/>
              </a:solidFill>
            </a:ln>
          </c:spPr>
        </c:majorGridlines>
        <c:numFmt formatCode="$#,##0,&quot;K&quot;" sourceLinked="0"/>
        <c:majorTickMark val="out"/>
        <c:minorTickMark val="none"/>
        <c:tickLblPos val="nextTo"/>
        <c:spPr>
          <a:ln>
            <a:noFill/>
          </a:ln>
        </c:spPr>
        <c:txPr>
          <a:bodyPr/>
          <a:lstStyle/>
          <a:p>
            <a:pPr>
              <a:defRPr sz="900">
                <a:solidFill>
                  <a:srgbClr val="5B6778"/>
                </a:solidFill>
              </a:defRPr>
            </a:pPr>
          </a:p>
        </c:txPr>
        <c:crossAx val="-2068027336"/>
        <c:crosses val="autoZero"/>
      </c:valAx>
    </c:plotArea>
    <c:dispBlanksAs val="gap"/>
  </c:chart>
  <c:txPr>
    <a:bodyPr/>
    <a:lstStyle/>
    <a:p>
      <a:pPr>
        <a:defRPr sz="1000">
          <a:solidFill>
            <a:srgbClr val="5B677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Share of movement</c:v>
                </c:pt>
              </c:strCache>
            </c:strRef>
          </c:tx>
          <c:dPt>
            <c:idx val="0"/>
            <c:spPr>
              <a:solidFill>
                <a:srgbClr val="1F3864"/>
              </a:solidFill>
              <a:ln>
                <a:solidFill>
                  <a:srgbClr val="FFFFFF"/>
                </a:solidFill>
              </a:ln>
            </c:spPr>
          </c:dPt>
          <c:dPt>
            <c:idx val="1"/>
            <c:spPr>
              <a:solidFill>
                <a:srgbClr val="2E75B6"/>
              </a:solidFill>
              <a:ln>
                <a:solidFill>
                  <a:srgbClr val="FFFFFF"/>
                </a:solidFill>
              </a:ln>
            </c:spPr>
          </c:dPt>
          <c:dPt>
            <c:idx val="2"/>
            <c:spPr>
              <a:solidFill>
                <a:srgbClr val="00A3A1"/>
              </a:solidFill>
              <a:ln>
                <a:solidFill>
                  <a:srgbClr val="FFFFFF"/>
                </a:solidFill>
              </a:ln>
            </c:spPr>
          </c:dPt>
          <c:dPt>
            <c:idx val="3"/>
            <c:spPr>
              <a:solidFill>
                <a:srgbClr val="F2A900"/>
              </a:solidFill>
              <a:ln>
                <a:solidFill>
                  <a:srgbClr val="FFFFFF"/>
                </a:solidFill>
              </a:ln>
            </c:spPr>
          </c:dPt>
          <c:cat>
            <c:strRef>
              <c:f>Sheet1!$A$2:$A$5</c:f>
              <c:strCache>
                <c:ptCount val="4"/>
                <c:pt idx="0">
                  <c:v>Meridian Health</c:v>
                </c:pt>
                <c:pt idx="1">
                  <c:v>SMB Bulk (aggregated)</c:v>
                </c:pt>
                <c:pt idx="2">
                  <c:v>Northwind Labs</c:v>
                </c:pt>
                <c:pt idx="3">
                  <c:v>AtlasGrid</c:v>
                </c:pt>
              </c:strCache>
            </c:strRef>
          </c:cat>
          <c:val>
            <c:numRef>
              <c:f>Sheet1!$B$2:$B$5</c:f>
              <c:numCache>
                <c:formatCode>General</c:formatCode>
                <c:ptCount val="4"/>
                <c:pt idx="0">
                  <c:v>10000.0</c:v>
                </c:pt>
                <c:pt idx="1">
                  <c:v>9000.0</c:v>
                </c:pt>
                <c:pt idx="2">
                  <c:v>8000.0</c:v>
                </c:pt>
                <c:pt idx="3">
                  <c:v>6000.0</c:v>
                </c:pt>
              </c:numCache>
            </c:numRef>
          </c:val>
        </c:ser>
        <c:dLbls>
          <c:numFmt formatCode="0.0%" sourceLinked="0"/>
          <c:txPr>
            <a:bodyPr/>
            <a:lstStyle/>
            <a:p>
              <a:pPr>
                <a:defRPr sz="1000" b="1">
                  <a:solidFill>
                    <a:srgbClr val="FFFFFF"/>
                  </a:solidFill>
                </a:defRPr>
              </a:pPr>
            </a:p>
          </c:txPr>
          <c:dLblPos val="bestFit"/>
          <c:showLegendKey val="0"/>
          <c:showVal val="0"/>
          <c:showCatName val="0"/>
          <c:showSerName val="0"/>
          <c:showPercent val="1"/>
          <c:showBubbleSize val="0"/>
          <c:showLeaderLines val="1"/>
        </c:dLbls>
      </c:pieChart>
    </c:plotArea>
    <c:legend>
      <c:legendPos val="b"/>
      <c:overlay val="0"/>
      <c:txPr>
        <a:bodyPr/>
        <a:lstStyle/>
        <a:p>
          <a:pPr>
            <a:defRPr sz="900">
              <a:solidFill>
                <a:srgbClr val="1F2A44"/>
              </a:solidFill>
            </a:defRPr>
          </a:pPr>
        </a:p>
      </c:txPr>
    </c:legend>
    <c:dispBlanksAs val="gap"/>
  </c:chart>
  <c:txPr>
    <a:bodyPr/>
    <a:lstStyle/>
    <a:p>
      <a:pPr>
        <a:defRPr sz="1000">
          <a:solidFill>
            <a:srgbClr val="5B6778"/>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Change</c:v>
                </c:pt>
              </c:strCache>
            </c:strRef>
          </c:tx>
          <c:invertIfNegative val="0"/>
          <c:dPt>
            <c:idx val="0"/>
            <c:spPr>
              <a:solidFill>
                <a:srgbClr val="2E7D32"/>
              </a:solidFill>
            </c:spPr>
          </c:dPt>
          <c:dPt>
            <c:idx val="1"/>
            <c:spPr>
              <a:solidFill>
                <a:srgbClr val="2E7D32"/>
              </a:solidFill>
            </c:spPr>
          </c:dPt>
          <c:dPt>
            <c:idx val="2"/>
            <c:spPr>
              <a:solidFill>
                <a:srgbClr val="2E7D32"/>
              </a:solidFill>
            </c:spPr>
          </c:dPt>
          <c:dPt>
            <c:idx val="3"/>
            <c:spPr>
              <a:solidFill>
                <a:srgbClr val="2E7D32"/>
              </a:solidFill>
            </c:spPr>
          </c:dPt>
          <c:dPt>
            <c:idx val="4"/>
            <c:spPr>
              <a:solidFill>
                <a:srgbClr val="2E7D32"/>
              </a:solidFill>
            </c:spPr>
          </c:dPt>
          <c:dLbls>
            <c:dLbl>
              <c:idx val="0"/>
              <c:tx>
                <c:rich>
                  <a:bodyPr/>
                  <a:lstStyle/>
                  <a:p>
                    <a:pPr>
                      <a:defRPr/>
                    </a:pPr>
                    <a:r>
                      <a:rPr sz="1000" b="1">
                        <a:solidFill>
                          <a:srgbClr val="1F2A44"/>
                        </a:solidFill>
                      </a:rPr>
                      <a:t>+$10K</a:t>
                    </a:r>
                  </a:p>
                </c:rich>
              </c:tx>
              <c:dLblPos val="outEnd"/>
              <c:showLegendKey val="0"/>
              <c:showVal val="1"/>
              <c:showCatName val="0"/>
              <c:showSerName val="0"/>
              <c:showPercent val="0"/>
              <c:showBubbleSize val="0"/>
            </c:dLbl>
            <c:dLbl>
              <c:idx val="1"/>
              <c:tx>
                <c:rich>
                  <a:bodyPr/>
                  <a:lstStyle/>
                  <a:p>
                    <a:pPr>
                      <a:defRPr/>
                    </a:pPr>
                    <a:r>
                      <a:rPr sz="1000" b="1">
                        <a:solidFill>
                          <a:srgbClr val="1F2A44"/>
                        </a:solidFill>
                      </a:rPr>
                      <a:t>+$9.0K</a:t>
                    </a:r>
                  </a:p>
                </c:rich>
              </c:tx>
              <c:dLblPos val="outEnd"/>
              <c:showLegendKey val="0"/>
              <c:showVal val="1"/>
              <c:showCatName val="0"/>
              <c:showSerName val="0"/>
              <c:showPercent val="0"/>
              <c:showBubbleSize val="0"/>
            </c:dLbl>
            <c:dLbl>
              <c:idx val="2"/>
              <c:tx>
                <c:rich>
                  <a:bodyPr/>
                  <a:lstStyle/>
                  <a:p>
                    <a:pPr>
                      <a:defRPr/>
                    </a:pPr>
                    <a:r>
                      <a:rPr sz="1000" b="1">
                        <a:solidFill>
                          <a:srgbClr val="1F2A44"/>
                        </a:solidFill>
                      </a:rPr>
                      <a:t>+$8.0K</a:t>
                    </a:r>
                  </a:p>
                </c:rich>
              </c:tx>
              <c:dLblPos val="outEnd"/>
              <c:showLegendKey val="0"/>
              <c:showVal val="1"/>
              <c:showCatName val="0"/>
              <c:showSerName val="0"/>
              <c:showPercent val="0"/>
              <c:showBubbleSize val="0"/>
            </c:dLbl>
            <c:dLbl>
              <c:idx val="3"/>
              <c:tx>
                <c:rich>
                  <a:bodyPr/>
                  <a:lstStyle/>
                  <a:p>
                    <a:pPr>
                      <a:defRPr/>
                    </a:pPr>
                    <a:r>
                      <a:rPr sz="1000" b="1">
                        <a:solidFill>
                          <a:srgbClr val="1F2A44"/>
                        </a:solidFill>
                      </a:rPr>
                      <a:t>+$6.4K</a:t>
                    </a:r>
                  </a:p>
                </c:rich>
              </c:tx>
              <c:dLblPos val="outEnd"/>
              <c:showLegendKey val="0"/>
              <c:showVal val="1"/>
              <c:showCatName val="0"/>
              <c:showSerName val="0"/>
              <c:showPercent val="0"/>
              <c:showBubbleSize val="0"/>
            </c:dLbl>
            <c:dLbl>
              <c:idx val="4"/>
              <c:tx>
                <c:rich>
                  <a:bodyPr/>
                  <a:lstStyle/>
                  <a:p>
                    <a:pPr>
                      <a:defRPr/>
                    </a:pPr>
                    <a:r>
                      <a:rPr sz="1000" b="1">
                        <a:solidFill>
                          <a:srgbClr val="1F2A44"/>
                        </a:solidFill>
                      </a:rPr>
                      <a:t>+$6.0K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Meridian Health (new)</c:v>
                </c:pt>
                <c:pt idx="1">
                  <c:v>SMB Bulk (aggregated) (+6.8%)</c:v>
                </c:pt>
                <c:pt idx="2">
                  <c:v>Northwind Labs (+80.0%)</c:v>
                </c:pt>
                <c:pt idx="3">
                  <c:v>AWS (+22.0%)</c:v>
                </c:pt>
                <c:pt idx="4">
                  <c:v>AtlasGrid (+75.0%)</c:v>
                </c:pt>
              </c:strCache>
            </c:strRef>
          </c:cat>
          <c:val>
            <c:numRef>
              <c:f>Sheet1!$B$2:$B$6</c:f>
              <c:numCache>
                <c:formatCode>General</c:formatCode>
                <c:ptCount val="5"/>
                <c:pt idx="0">
                  <c:v>10000.0</c:v>
                </c:pt>
                <c:pt idx="1">
                  <c:v>9000.0</c:v>
                </c:pt>
                <c:pt idx="2">
                  <c:v>8000.0</c:v>
                </c:pt>
                <c:pt idx="3">
                  <c:v>6400.0</c:v>
                </c:pt>
                <c:pt idx="4">
                  <c:v>6000.0</c:v>
                </c:pt>
              </c:numCache>
            </c:numRef>
          </c:val>
        </c:ser>
        <c:gapWidth val="55"/>
        <c:axId val="-2068027336"/>
        <c:axId val="-2113994440"/>
      </c:barChart>
      <c:catAx>
        <c:axId val="-2068027336"/>
        <c:scaling>
          <c:orientation val="maxMin"/>
        </c:scaling>
        <c:delete val="0"/>
        <c:axPos val="l"/>
        <c:majorTickMark val="out"/>
        <c:minorTickMark val="none"/>
        <c:tickLblPos val="low"/>
        <c:spPr>
          <a:ln>
            <a:solidFill>
              <a:srgbClr val="DDE3EA"/>
            </a:solidFill>
          </a:ln>
        </c:spPr>
        <c:txPr>
          <a:bodyPr/>
          <a:lstStyle/>
          <a:p>
            <a:pPr>
              <a:defRPr sz="1000">
                <a:solidFill>
                  <a:srgbClr val="1F2A44"/>
                </a:solidFill>
              </a:defRPr>
            </a:pPr>
          </a:p>
        </c:txPr>
        <c:crossAx val="-2113994440"/>
        <c:crosses val="autoZero"/>
        <c:auto val="1"/>
        <c:lblAlgn val="ctr"/>
        <c:lblOffset val="100"/>
        <c:noMultiLvlLbl val="0"/>
      </c:catAx>
      <c:valAx>
        <c:axId val="-2113994440"/>
        <c:scaling>
          <c:max val="13000.0"/>
        </c:scaling>
        <c:delete/>
        <c:axPos val="b"/>
        <c:numFmt formatCode="$#,##0,&quot;K&quot;" sourceLinked="0"/>
        <c:majorTickMark val="out"/>
        <c:minorTickMark val="none"/>
        <c:tickLblPos val="nextTo"/>
        <c:spPr>
          <a:ln>
            <a:noFill/>
          </a:ln>
        </c:spPr>
        <c:txPr>
          <a:bodyPr/>
          <a:lstStyle/>
          <a:p>
            <a:pPr>
              <a:defRPr sz="900">
                <a:solidFill>
                  <a:srgbClr val="5B6778"/>
                </a:solidFill>
              </a:defRPr>
            </a:pPr>
          </a:p>
        </c:txPr>
        <c:crossAx val="-2068027336"/>
        <c:crosses val="autoZero"/>
      </c:valAx>
    </c:plotArea>
    <c:dispBlanksAs val="gap"/>
  </c:chart>
  <c:txPr>
    <a:bodyPr/>
    <a:lstStyle/>
    <a:p>
      <a:pPr>
        <a:defRPr sz="1000">
          <a:solidFill>
            <a:srgbClr val="5B6778"/>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Duration (ms)</c:v>
                </c:pt>
              </c:strCache>
            </c:strRef>
          </c:tx>
          <c:spPr>
            <a:solidFill>
              <a:srgbClr val="2E75B6"/>
            </a:solidFill>
          </c:spPr>
          <c:dLbls>
            <c:numFmt formatCode="#,##0&quot; ms&quot;" sourceLinked="0"/>
            <c:txPr>
              <a:bodyPr/>
              <a:lstStyle/>
              <a:p>
                <a:pPr>
                  <a:defRPr sz="900">
                    <a:solidFill>
                      <a:srgbClr val="1F2A44"/>
                    </a:solidFill>
                  </a:defRPr>
                </a:pPr>
              </a:p>
            </c:txPr>
            <c:dLblPos val="outEnd"/>
            <c:showLegendKey val="0"/>
            <c:showVal val="1"/>
            <c:showCatName val="0"/>
            <c:showSerName val="0"/>
            <c:showPercent val="0"/>
            <c:showBubbleSize val="0"/>
            <c:showLeaderLines val="1"/>
          </c:dLbls>
          <c:cat>
            <c:strRef>
              <c:f>Sheet1!$A$2:$A$11</c:f>
              <c:strCache>
                <c:ptCount val="10"/>
                <c:pt idx="0">
                  <c:v>Profile Builder</c:v>
                </c:pt>
                <c:pt idx="1">
                  <c:v>Data QA</c:v>
                </c:pt>
                <c:pt idx="2">
                  <c:v>Analytics Engine</c:v>
                </c:pt>
                <c:pt idx="3">
                  <c:v>Memory Agent</c:v>
                </c:pt>
                <c:pt idx="4">
                  <c:v>RAG Agent</c:v>
                </c:pt>
                <c:pt idx="5">
                  <c:v>Analyst</c:v>
                </c:pt>
                <c:pt idx="6">
                  <c:v>Safety Guardrail</c:v>
                </c:pt>
                <c:pt idx="7">
                  <c:v>Stress Test</c:v>
                </c:pt>
                <c:pt idx="8">
                  <c:v>Report Writer</c:v>
                </c:pt>
                <c:pt idx="9">
                  <c:v>Memory Update</c:v>
                </c:pt>
              </c:strCache>
            </c:strRef>
          </c:cat>
          <c:val>
            <c:numRef>
              <c:f>Sheet1!$B$2:$B$11</c:f>
              <c:numCache>
                <c:formatCode>General</c:formatCode>
                <c:ptCount val="10"/>
                <c:pt idx="0">
                  <c:v>17</c:v>
                </c:pt>
                <c:pt idx="1">
                  <c:v>10</c:v>
                </c:pt>
                <c:pt idx="2">
                  <c:v>5</c:v>
                </c:pt>
                <c:pt idx="3">
                  <c:v>2</c:v>
                </c:pt>
                <c:pt idx="4">
                  <c:v>672</c:v>
                </c:pt>
                <c:pt idx="5">
                  <c:v>7044</c:v>
                </c:pt>
                <c:pt idx="6">
                  <c:v>7932</c:v>
                </c:pt>
                <c:pt idx="7">
                  <c:v>1</c:v>
                </c:pt>
                <c:pt idx="8">
                  <c:v>2176</c:v>
                </c:pt>
                <c:pt idx="9">
                  <c:v>272</c:v>
                </c:pt>
              </c:numCache>
            </c:numRef>
          </c:val>
        </c:ser>
        <c:gapWidth val="50"/>
        <c:axId val="-2068027336"/>
        <c:axId val="-2113994440"/>
      </c:barChart>
      <c:catAx>
        <c:axId val="-2068027336"/>
        <c:scaling>
          <c:orientation val="maxMin"/>
        </c:scaling>
        <c:delete val="0"/>
        <c:axPos val="l"/>
        <c:majorTickMark val="out"/>
        <c:minorTickMark val="none"/>
        <c:tickLblPos val="low"/>
        <c:spPr>
          <a:ln>
            <a:solidFill>
              <a:srgbClr val="DDE3EA"/>
            </a:solidFill>
          </a:ln>
        </c:spPr>
        <c:txPr>
          <a:bodyPr/>
          <a:lstStyle/>
          <a:p>
            <a:pPr>
              <a:defRPr sz="1000">
                <a:solidFill>
                  <a:srgbClr val="1F2A44"/>
                </a:solidFill>
              </a:defRPr>
            </a:pPr>
          </a:p>
        </c:txPr>
        <c:crossAx val="-2113994440"/>
        <c:crosses val="autoZero"/>
        <c:auto val="1"/>
        <c:lblAlgn val="ctr"/>
        <c:lblOffset val="100"/>
        <c:noMultiLvlLbl val="0"/>
      </c:catAx>
      <c:valAx>
        <c:axId val="-2113994440"/>
        <c:scaling>
          <c:max val="9915.0"/>
        </c:scaling>
        <c:delete/>
        <c:axPos val="b"/>
        <c:numFmt formatCode="#,##0&quot; ms&quot;" sourceLinked="0"/>
        <c:majorTickMark val="out"/>
        <c:minorTickMark val="none"/>
        <c:tickLblPos val="nextTo"/>
        <c:spPr>
          <a:ln>
            <a:noFill/>
          </a:ln>
        </c:spPr>
        <c:txPr>
          <a:bodyPr/>
          <a:lstStyle/>
          <a:p>
            <a:pPr>
              <a:defRPr sz="900">
                <a:solidFill>
                  <a:srgbClr val="5B6778"/>
                </a:solidFill>
              </a:defRPr>
            </a:pPr>
          </a:p>
        </c:txPr>
        <c:crossAx val="-2068027336"/>
        <c:crosses val="autoZero"/>
      </c:valAx>
    </c:plotArea>
    <c:dispBlanksAs val="gap"/>
  </c:chart>
  <c:txPr>
    <a:bodyPr/>
    <a:lstStyle/>
    <a:p>
      <a:pPr>
        <a:defRPr sz="1000">
          <a:solidFill>
            <a:srgbClr val="5B677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Subscription revenue up $33K (22%) and cloud hosting expense up $6.4K (22%) in August Revenue moved from $150K to $183K. The rest of the deck explains why, how sure we are, and what we do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and approach. Stress that numbers are computed in code, not generated by the model, and every fact keeps a pointer to the transactions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chart left to right: opening revenue, each driver's contribution, closing revenue. Green bars add revenue, red bars subtract. The bars tie exactly to both endpoints. The pie shows how the total movement splits across drivers. Drivers fully explain the movement; no unattributed remainder.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Drivers are counterparties or revenue lines whose totals moved most. Each carries a confidence score derived from its evidence; low-confidence rows deserve a human look before external 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Assurance. 16/16 numbers verified. Data quality 100%, overall confidence 88%. This is the answer to 'can I trust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DemoCo posted a strong August: subscription revenue rose $33K (22%) to $183K, driven by four customers—Meridian Health (+$10K), SMB Bulk (+$9K), Northwind Labs (+$8K), and AtlasGrid (+$6K)—with the top three contributing 81.8% of the gain. Cloud hosting expense increased $6.4K (22%) to $35.5K, entirely due to higher AWS usage, representing 100% of the cost increase. Concentration risk remains elevated, and limited historical data precludes statistical significance testing.</a:t>
            </a:r>
          </a:p>
          <a:p/>
          <a:p>
            <a:r>
              <a:t>Risks: Subscription revenue increase is highly concentrated: the top three customers represent 81.8% of the gain.; Cloud hosting cost increase is fully attributable to AWS, indicating a single‑vendor exposure.; Insufficient historical data prevents statistical significance testing for both variances.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asks. The open questions on the left come straight from the analysis; the roadmap is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8229600" cy="274320"/>
          </a:xfrm>
          <a:prstGeom prst="rect">
            <a:avLst/>
          </a:prstGeom>
          <a:noFill/>
        </p:spPr>
        <p:txBody>
          <a:bodyPr wrap="square" anchor="t" lIns="0" rIns="0" tIns="0" bIns="0">
            <a:spAutoFit/>
          </a:bodyPr>
          <a:lstStyle/>
          <a:p>
            <a:pPr algn="l">
              <a:lnSpc>
                <a:spcPct val="100000"/>
              </a:lnSpc>
              <a:spcAft>
                <a:spcPts val="0"/>
              </a:spcAft>
            </a:pPr>
            <a:r>
              <a:rPr sz="1200" b="1">
                <a:solidFill>
                  <a:srgbClr val="9CC3E8"/>
                </a:solidFill>
                <a:latin typeface="Calibri"/>
              </a:rPr>
              <a:t>LEDGERLIGHT  |  REVENUE VARIANCE REVIEW</a:t>
            </a:r>
          </a:p>
        </p:txBody>
      </p:sp>
      <p:sp>
        <p:nvSpPr>
          <p:cNvPr id="4" name="TextBox 3"/>
          <p:cNvSpPr txBox="1"/>
          <p:nvPr/>
        </p:nvSpPr>
        <p:spPr>
          <a:xfrm>
            <a:off x="548640" y="1143000"/>
            <a:ext cx="10515600" cy="1371600"/>
          </a:xfrm>
          <a:prstGeom prst="rect">
            <a:avLst/>
          </a:prstGeom>
          <a:noFill/>
        </p:spPr>
        <p:txBody>
          <a:bodyPr wrap="square" anchor="t" lIns="0" rIns="0" tIns="0" bIns="0">
            <a:spAutoFit/>
          </a:bodyPr>
          <a:lstStyle/>
          <a:p>
            <a:pPr algn="l">
              <a:lnSpc>
                <a:spcPct val="95000"/>
              </a:lnSpc>
              <a:spcAft>
                <a:spcPts val="0"/>
              </a:spcAft>
            </a:pPr>
            <a:r>
              <a:rPr sz="3800" b="1">
                <a:solidFill>
                  <a:srgbClr val="FFFFFF"/>
                </a:solidFill>
                <a:latin typeface="Calibri"/>
              </a:rPr>
              <a:t>DemoCo: revenue grew $33K (22.0%) from 2026-07 to 2026-08</a:t>
            </a:r>
          </a:p>
        </p:txBody>
      </p:sp>
      <p:sp>
        <p:nvSpPr>
          <p:cNvPr id="5" name="TextBox 4"/>
          <p:cNvSpPr txBox="1"/>
          <p:nvPr/>
        </p:nvSpPr>
        <p:spPr>
          <a:xfrm>
            <a:off x="548640" y="2743200"/>
            <a:ext cx="9601200" cy="914400"/>
          </a:xfrm>
          <a:prstGeom prst="rect">
            <a:avLst/>
          </a:prstGeom>
          <a:noFill/>
        </p:spPr>
        <p:txBody>
          <a:bodyPr wrap="square" anchor="t" lIns="0" rIns="0" tIns="0" bIns="0">
            <a:spAutoFit/>
          </a:bodyPr>
          <a:lstStyle/>
          <a:p>
            <a:pPr algn="l">
              <a:lnSpc>
                <a:spcPct val="105000"/>
              </a:lnSpc>
              <a:spcAft>
                <a:spcPts val="0"/>
              </a:spcAft>
            </a:pPr>
            <a:r>
              <a:rPr sz="1800" b="0">
                <a:solidFill>
                  <a:srgbClr val="C9D6EA"/>
                </a:solidFill>
                <a:latin typeface="Calibri"/>
              </a:rPr>
              <a:t>Subscription revenue up $33K (22%) and cloud hosting expense up $6.4K (22%) in August</a:t>
            </a:r>
          </a:p>
        </p:txBody>
      </p:sp>
      <p:sp>
        <p:nvSpPr>
          <p:cNvPr id="6" name="Rectangle 5"/>
          <p:cNvSpPr/>
          <p:nvPr/>
        </p:nvSpPr>
        <p:spPr>
          <a:xfrm>
            <a:off x="548640" y="4297680"/>
            <a:ext cx="2606040" cy="123444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4297680"/>
            <a:ext cx="54864" cy="1234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434840"/>
            <a:ext cx="224028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2026-07 REVENUE</a:t>
            </a:r>
          </a:p>
        </p:txBody>
      </p:sp>
      <p:sp>
        <p:nvSpPr>
          <p:cNvPr id="9" name="TextBox 8"/>
          <p:cNvSpPr txBox="1"/>
          <p:nvPr/>
        </p:nvSpPr>
        <p:spPr>
          <a:xfrm>
            <a:off x="777240" y="4754880"/>
            <a:ext cx="2240280" cy="640080"/>
          </a:xfrm>
          <a:prstGeom prst="rect">
            <a:avLst/>
          </a:prstGeom>
          <a:noFill/>
        </p:spPr>
        <p:txBody>
          <a:bodyPr wrap="square" anchor="t" lIns="0" rIns="0" tIns="0" bIns="0">
            <a:spAutoFit/>
          </a:bodyPr>
          <a:lstStyle/>
          <a:p>
            <a:pPr algn="l">
              <a:lnSpc>
                <a:spcPct val="100000"/>
              </a:lnSpc>
              <a:spcAft>
                <a:spcPts val="0"/>
              </a:spcAft>
            </a:pPr>
            <a:r>
              <a:rPr sz="3000" b="1">
                <a:solidFill>
                  <a:srgbClr val="1F3864"/>
                </a:solidFill>
                <a:latin typeface="Calibri"/>
              </a:rPr>
              <a:t>$150K</a:t>
            </a:r>
          </a:p>
        </p:txBody>
      </p:sp>
      <p:sp>
        <p:nvSpPr>
          <p:cNvPr id="10" name="Rectangle 9"/>
          <p:cNvSpPr/>
          <p:nvPr/>
        </p:nvSpPr>
        <p:spPr>
          <a:xfrm>
            <a:off x="3337560" y="4297680"/>
            <a:ext cx="2606040" cy="123444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4297680"/>
            <a:ext cx="54864" cy="1234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4434840"/>
            <a:ext cx="224028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2026-08 REVENUE</a:t>
            </a:r>
          </a:p>
        </p:txBody>
      </p:sp>
      <p:sp>
        <p:nvSpPr>
          <p:cNvPr id="13" name="TextBox 12"/>
          <p:cNvSpPr txBox="1"/>
          <p:nvPr/>
        </p:nvSpPr>
        <p:spPr>
          <a:xfrm>
            <a:off x="3566160" y="4754880"/>
            <a:ext cx="2240280" cy="640080"/>
          </a:xfrm>
          <a:prstGeom prst="rect">
            <a:avLst/>
          </a:prstGeom>
          <a:noFill/>
        </p:spPr>
        <p:txBody>
          <a:bodyPr wrap="square" anchor="t" lIns="0" rIns="0" tIns="0" bIns="0">
            <a:spAutoFit/>
          </a:bodyPr>
          <a:lstStyle/>
          <a:p>
            <a:pPr algn="l">
              <a:lnSpc>
                <a:spcPct val="100000"/>
              </a:lnSpc>
              <a:spcAft>
                <a:spcPts val="0"/>
              </a:spcAft>
            </a:pPr>
            <a:r>
              <a:rPr sz="3000" b="1">
                <a:solidFill>
                  <a:srgbClr val="1F3864"/>
                </a:solidFill>
                <a:latin typeface="Calibri"/>
              </a:rPr>
              <a:t>$183K</a:t>
            </a:r>
          </a:p>
        </p:txBody>
      </p:sp>
      <p:sp>
        <p:nvSpPr>
          <p:cNvPr id="14" name="Rectangle 13"/>
          <p:cNvSpPr/>
          <p:nvPr/>
        </p:nvSpPr>
        <p:spPr>
          <a:xfrm>
            <a:off x="6126480" y="4297680"/>
            <a:ext cx="2606040" cy="123444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4297680"/>
            <a:ext cx="54864" cy="1234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434840"/>
            <a:ext cx="224028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NET CHANGE</a:t>
            </a:r>
          </a:p>
        </p:txBody>
      </p:sp>
      <p:sp>
        <p:nvSpPr>
          <p:cNvPr id="17" name="TextBox 16"/>
          <p:cNvSpPr txBox="1"/>
          <p:nvPr/>
        </p:nvSpPr>
        <p:spPr>
          <a:xfrm>
            <a:off x="6355080" y="4754880"/>
            <a:ext cx="2240280" cy="640080"/>
          </a:xfrm>
          <a:prstGeom prst="rect">
            <a:avLst/>
          </a:prstGeom>
          <a:noFill/>
        </p:spPr>
        <p:txBody>
          <a:bodyPr wrap="square" anchor="t" lIns="0" rIns="0" tIns="0" bIns="0">
            <a:spAutoFit/>
          </a:bodyPr>
          <a:lstStyle/>
          <a:p>
            <a:pPr algn="l">
              <a:lnSpc>
                <a:spcPct val="100000"/>
              </a:lnSpc>
              <a:spcAft>
                <a:spcPts val="0"/>
              </a:spcAft>
            </a:pPr>
            <a:r>
              <a:rPr sz="3000" b="1">
                <a:solidFill>
                  <a:srgbClr val="2E7D32"/>
                </a:solidFill>
                <a:latin typeface="Calibri"/>
              </a:rPr>
              <a:t>+$33K</a:t>
            </a:r>
          </a:p>
        </p:txBody>
      </p:sp>
      <p:sp>
        <p:nvSpPr>
          <p:cNvPr id="18" name="Rectangle 17"/>
          <p:cNvSpPr/>
          <p:nvPr/>
        </p:nvSpPr>
        <p:spPr>
          <a:xfrm>
            <a:off x="8915400" y="4297680"/>
            <a:ext cx="2606040" cy="123444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15400" y="4297680"/>
            <a:ext cx="54864" cy="1234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4434840"/>
            <a:ext cx="224028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DATA QUALITY</a:t>
            </a:r>
          </a:p>
        </p:txBody>
      </p:sp>
      <p:sp>
        <p:nvSpPr>
          <p:cNvPr id="21" name="TextBox 20"/>
          <p:cNvSpPr txBox="1"/>
          <p:nvPr/>
        </p:nvSpPr>
        <p:spPr>
          <a:xfrm>
            <a:off x="9144000" y="4754880"/>
            <a:ext cx="2240280" cy="640080"/>
          </a:xfrm>
          <a:prstGeom prst="rect">
            <a:avLst/>
          </a:prstGeom>
          <a:noFill/>
        </p:spPr>
        <p:txBody>
          <a:bodyPr wrap="square" anchor="t" lIns="0" rIns="0" tIns="0" bIns="0">
            <a:spAutoFit/>
          </a:bodyPr>
          <a:lstStyle/>
          <a:p>
            <a:pPr algn="l">
              <a:lnSpc>
                <a:spcPct val="100000"/>
              </a:lnSpc>
              <a:spcAft>
                <a:spcPts val="0"/>
              </a:spcAft>
            </a:pPr>
            <a:r>
              <a:rPr sz="3000" b="1">
                <a:solidFill>
                  <a:srgbClr val="1F3864"/>
                </a:solidFill>
                <a:latin typeface="Calibri"/>
              </a:rPr>
              <a:t>100%</a:t>
            </a:r>
          </a:p>
        </p:txBody>
      </p:sp>
      <p:sp>
        <p:nvSpPr>
          <p:cNvPr id="22" name="TextBox 21"/>
          <p:cNvSpPr txBox="1"/>
          <p:nvPr/>
        </p:nvSpPr>
        <p:spPr>
          <a:xfrm>
            <a:off x="548640" y="6035040"/>
            <a:ext cx="10058400" cy="274320"/>
          </a:xfrm>
          <a:prstGeom prst="rect">
            <a:avLst/>
          </a:prstGeom>
          <a:noFill/>
        </p:spPr>
        <p:txBody>
          <a:bodyPr wrap="square" anchor="t" lIns="0" rIns="0" tIns="0" bIns="0">
            <a:spAutoFit/>
          </a:bodyPr>
          <a:lstStyle/>
          <a:p>
            <a:pPr algn="l">
              <a:lnSpc>
                <a:spcPct val="100000"/>
              </a:lnSpc>
              <a:spcAft>
                <a:spcPts val="0"/>
              </a:spcAft>
            </a:pPr>
            <a:r>
              <a:rPr sz="1100" b="0">
                <a:solidFill>
                  <a:srgbClr val="C9D6EA"/>
                </a:solidFill>
                <a:latin typeface="Calibri"/>
              </a:rPr>
              <a:t>Prepared for leadership and partner teams  |  Run run_4fd778726cd1  |  Every figure traced to source transactions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100" b="1">
                <a:solidFill>
                  <a:srgbClr val="2E75B6"/>
                </a:solidFill>
                <a:latin typeface="Calibri"/>
              </a:rPr>
              <a:t>CONTEXT</a:t>
            </a:r>
          </a:p>
        </p:txBody>
      </p:sp>
      <p:sp>
        <p:nvSpPr>
          <p:cNvPr id="4" name="TextBox 3"/>
          <p:cNvSpPr txBox="1"/>
          <p:nvPr/>
        </p:nvSpPr>
        <p:spPr>
          <a:xfrm>
            <a:off x="548640" y="621792"/>
            <a:ext cx="11094415" cy="868680"/>
          </a:xfrm>
          <a:prstGeom prst="rect">
            <a:avLst/>
          </a:prstGeom>
          <a:noFill/>
        </p:spPr>
        <p:txBody>
          <a:bodyPr wrap="square" anchor="t" lIns="0" rIns="0" tIns="0" bIns="0">
            <a:spAutoFit/>
          </a:bodyPr>
          <a:lstStyle/>
          <a:p>
            <a:pPr algn="l">
              <a:lnSpc>
                <a:spcPct val="95000"/>
              </a:lnSpc>
              <a:spcAft>
                <a:spcPts val="0"/>
              </a:spcAft>
            </a:pPr>
            <a:r>
              <a:rPr sz="2600" b="1">
                <a:solidFill>
                  <a:srgbClr val="1F3864"/>
                </a:solidFill>
                <a:latin typeface="Calibri"/>
              </a:rPr>
              <a:t>Explaining a revenue swing takes days and is hard to audit; we made it traceable</a:t>
            </a:r>
          </a:p>
        </p:txBody>
      </p:sp>
      <p:sp>
        <p:nvSpPr>
          <p:cNvPr id="5" name="Rectangle 4"/>
          <p:cNvSpPr/>
          <p:nvPr/>
        </p:nvSpPr>
        <p:spPr>
          <a:xfrm>
            <a:off x="548640" y="6400800"/>
            <a:ext cx="11094415" cy="952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64808"/>
            <a:ext cx="8229600" cy="228600"/>
          </a:xfrm>
          <a:prstGeom prst="rect">
            <a:avLst/>
          </a:prstGeom>
          <a:noFill/>
        </p:spPr>
        <p:txBody>
          <a:bodyPr wrap="square" anchor="t" lIns="0" rIns="0" tIns="0" bIns="0">
            <a:spAutoFit/>
          </a:bodyPr>
          <a:lstStyle/>
          <a:p>
            <a:pPr algn="l">
              <a:lnSpc>
                <a:spcPct val="100000"/>
              </a:lnSpc>
              <a:spcAft>
                <a:spcPts val="0"/>
              </a:spcAft>
            </a:pPr>
            <a:r>
              <a:rPr sz="900" b="0">
                <a:solidFill>
                  <a:srgbClr val="5B6778"/>
                </a:solidFill>
                <a:latin typeface="Calibri"/>
              </a:rPr>
              <a:t>Ledgerlight  |  DemoCo  |  2026-07 to 2026-08  |  Run run_4fd778726cd1</a:t>
            </a:r>
          </a:p>
        </p:txBody>
      </p:sp>
      <p:sp>
        <p:nvSpPr>
          <p:cNvPr id="7" name="TextBox 6"/>
          <p:cNvSpPr txBox="1"/>
          <p:nvPr/>
        </p:nvSpPr>
        <p:spPr>
          <a:xfrm>
            <a:off x="10728655" y="6464808"/>
            <a:ext cx="914400" cy="228600"/>
          </a:xfrm>
          <a:prstGeom prst="rect">
            <a:avLst/>
          </a:prstGeom>
          <a:noFill/>
        </p:spPr>
        <p:txBody>
          <a:bodyPr wrap="square" anchor="t" lIns="0" rIns="0" tIns="0" bIns="0">
            <a:spAutoFit/>
          </a:bodyPr>
          <a:lstStyle/>
          <a:p>
            <a:pPr algn="r">
              <a:lnSpc>
                <a:spcPct val="100000"/>
              </a:lnSpc>
              <a:spcAft>
                <a:spcPts val="0"/>
              </a:spcAft>
            </a:pPr>
            <a:r>
              <a:rPr sz="900" b="0">
                <a:solidFill>
                  <a:srgbClr val="5B6778"/>
                </a:solidFill>
                <a:latin typeface="Calibri"/>
              </a:rPr>
              <a:t>2</a:t>
            </a:r>
          </a:p>
        </p:txBody>
      </p:sp>
      <p:sp>
        <p:nvSpPr>
          <p:cNvPr id="8" name="TextBox 7"/>
          <p:cNvSpPr txBox="1"/>
          <p:nvPr/>
        </p:nvSpPr>
        <p:spPr>
          <a:xfrm>
            <a:off x="548640" y="1691640"/>
            <a:ext cx="5394960"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The problem</a:t>
            </a:r>
          </a:p>
        </p:txBody>
      </p:sp>
      <p:sp>
        <p:nvSpPr>
          <p:cNvPr id="9" name="Rectangle 8"/>
          <p:cNvSpPr/>
          <p:nvPr/>
        </p:nvSpPr>
        <p:spPr>
          <a:xfrm>
            <a:off x="548640" y="198424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5394960" cy="2377440"/>
          </a:xfrm>
          <a:prstGeom prst="rect">
            <a:avLst/>
          </a:prstGeom>
          <a:noFill/>
        </p:spPr>
        <p:txBody>
          <a:bodyPr wrap="square" anchor="t" lIns="0" rIns="0" tIns="0" bIns="0">
            <a:spAutoFit/>
          </a:bodyPr>
          <a:lstStyle/>
          <a:p>
            <a:pPr algn="l" marL="182880" indent="-182880">
              <a:lnSpc>
                <a:spcPct val="105000"/>
              </a:lnSpc>
              <a:spcAft>
                <a:spcPts val="900"/>
              </a:spcAft>
              <a:buClr>
                <a:srgbClr val="2E75B6"/>
              </a:buClr>
              <a:buChar char="•"/>
            </a:pPr>
            <a:r>
              <a:rPr sz="1400" b="0">
                <a:solidFill>
                  <a:srgbClr val="1F2A44"/>
                </a:solidFill>
                <a:latin typeface="Calibri"/>
              </a:rPr>
              <a:t>Finance teams reconcile month-on-month revenue by hand across ledgers, exports and spreadsheets.</a:t>
            </a:r>
          </a:p>
          <a:p>
            <a:pPr algn="l" marL="182880" indent="-182880">
              <a:lnSpc>
                <a:spcPct val="105000"/>
              </a:lnSpc>
              <a:spcAft>
                <a:spcPts val="900"/>
              </a:spcAft>
              <a:buClr>
                <a:srgbClr val="2E75B6"/>
              </a:buClr>
              <a:buChar char="•"/>
            </a:pPr>
            <a:r>
              <a:rPr sz="1400" b="0">
                <a:solidFill>
                  <a:srgbClr val="1F2A44"/>
                </a:solidFill>
                <a:latin typeface="Calibri"/>
              </a:rPr>
              <a:t>Narratives drift from the numbers: a figure quoted in a board note is rarely linked to the entries behind it.</a:t>
            </a:r>
          </a:p>
          <a:p>
            <a:pPr algn="l" marL="182880" indent="-182880">
              <a:lnSpc>
                <a:spcPct val="105000"/>
              </a:lnSpc>
              <a:spcAft>
                <a:spcPts val="900"/>
              </a:spcAft>
              <a:buClr>
                <a:srgbClr val="2E75B6"/>
              </a:buClr>
              <a:buChar char="•"/>
            </a:pPr>
            <a:r>
              <a:rPr sz="1400" b="0">
                <a:solidFill>
                  <a:srgbClr val="1F2A44"/>
                </a:solidFill>
                <a:latin typeface="Calibri"/>
              </a:rPr>
              <a:t>Leaders need three answers fast: what moved, why, and how much to trust the explanation.</a:t>
            </a:r>
          </a:p>
        </p:txBody>
      </p:sp>
      <p:sp>
        <p:nvSpPr>
          <p:cNvPr id="11" name="Rectangle 10"/>
          <p:cNvSpPr/>
          <p:nvPr/>
        </p:nvSpPr>
        <p:spPr>
          <a:xfrm>
            <a:off x="548640" y="4526280"/>
            <a:ext cx="5394960" cy="164592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645152"/>
            <a:ext cx="539496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SCOPE OF THIS RUN</a:t>
            </a:r>
          </a:p>
        </p:txBody>
      </p:sp>
      <p:sp>
        <p:nvSpPr>
          <p:cNvPr id="13" name="TextBox 12"/>
          <p:cNvSpPr txBox="1"/>
          <p:nvPr/>
        </p:nvSpPr>
        <p:spPr>
          <a:xfrm>
            <a:off x="777240" y="4983480"/>
            <a:ext cx="1645920" cy="502920"/>
          </a:xfrm>
          <a:prstGeom prst="rect">
            <a:avLst/>
          </a:prstGeom>
          <a:noFill/>
        </p:spPr>
        <p:txBody>
          <a:bodyPr wrap="square" anchor="t" lIns="0" rIns="0" tIns="0" bIns="0">
            <a:spAutoFit/>
          </a:bodyPr>
          <a:lstStyle/>
          <a:p>
            <a:pPr algn="l">
              <a:lnSpc>
                <a:spcPct val="100000"/>
              </a:lnSpc>
              <a:spcAft>
                <a:spcPts val="0"/>
              </a:spcAft>
            </a:pPr>
            <a:r>
              <a:rPr sz="2800" b="1">
                <a:solidFill>
                  <a:srgbClr val="1F3864"/>
                </a:solidFill>
                <a:latin typeface="Calibri"/>
              </a:rPr>
              <a:t>10</a:t>
            </a:r>
          </a:p>
        </p:txBody>
      </p:sp>
      <p:sp>
        <p:nvSpPr>
          <p:cNvPr id="14" name="TextBox 13"/>
          <p:cNvSpPr txBox="1"/>
          <p:nvPr/>
        </p:nvSpPr>
        <p:spPr>
          <a:xfrm>
            <a:off x="777240" y="5504688"/>
            <a:ext cx="1645920" cy="274320"/>
          </a:xfrm>
          <a:prstGeom prst="rect">
            <a:avLst/>
          </a:prstGeom>
          <a:noFill/>
        </p:spPr>
        <p:txBody>
          <a:bodyPr wrap="square" anchor="t" lIns="0" rIns="0" tIns="0" bIns="0">
            <a:spAutoFit/>
          </a:bodyPr>
          <a:lstStyle/>
          <a:p>
            <a:pPr algn="l">
              <a:lnSpc>
                <a:spcPct val="100000"/>
              </a:lnSpc>
              <a:spcAft>
                <a:spcPts val="0"/>
              </a:spcAft>
            </a:pPr>
            <a:r>
              <a:rPr sz="1100" b="0">
                <a:solidFill>
                  <a:srgbClr val="5B6778"/>
                </a:solidFill>
                <a:latin typeface="Calibri"/>
              </a:rPr>
              <a:t>transactions</a:t>
            </a:r>
          </a:p>
        </p:txBody>
      </p:sp>
      <p:sp>
        <p:nvSpPr>
          <p:cNvPr id="15" name="TextBox 14"/>
          <p:cNvSpPr txBox="1"/>
          <p:nvPr/>
        </p:nvSpPr>
        <p:spPr>
          <a:xfrm>
            <a:off x="2423160" y="4983480"/>
            <a:ext cx="1645920" cy="502920"/>
          </a:xfrm>
          <a:prstGeom prst="rect">
            <a:avLst/>
          </a:prstGeom>
          <a:noFill/>
        </p:spPr>
        <p:txBody>
          <a:bodyPr wrap="square" anchor="t" lIns="0" rIns="0" tIns="0" bIns="0">
            <a:spAutoFit/>
          </a:bodyPr>
          <a:lstStyle/>
          <a:p>
            <a:pPr algn="l">
              <a:lnSpc>
                <a:spcPct val="100000"/>
              </a:lnSpc>
              <a:spcAft>
                <a:spcPts val="0"/>
              </a:spcAft>
            </a:pPr>
            <a:r>
              <a:rPr sz="2800" b="1">
                <a:solidFill>
                  <a:srgbClr val="1F3864"/>
                </a:solidFill>
                <a:latin typeface="Calibri"/>
              </a:rPr>
              <a:t>9</a:t>
            </a:r>
          </a:p>
        </p:txBody>
      </p:sp>
      <p:sp>
        <p:nvSpPr>
          <p:cNvPr id="16" name="TextBox 15"/>
          <p:cNvSpPr txBox="1"/>
          <p:nvPr/>
        </p:nvSpPr>
        <p:spPr>
          <a:xfrm>
            <a:off x="2423160" y="5504688"/>
            <a:ext cx="1645920" cy="274320"/>
          </a:xfrm>
          <a:prstGeom prst="rect">
            <a:avLst/>
          </a:prstGeom>
          <a:noFill/>
        </p:spPr>
        <p:txBody>
          <a:bodyPr wrap="square" anchor="t" lIns="0" rIns="0" tIns="0" bIns="0">
            <a:spAutoFit/>
          </a:bodyPr>
          <a:lstStyle/>
          <a:p>
            <a:pPr algn="l">
              <a:lnSpc>
                <a:spcPct val="100000"/>
              </a:lnSpc>
              <a:spcAft>
                <a:spcPts val="0"/>
              </a:spcAft>
            </a:pPr>
            <a:r>
              <a:rPr sz="1100" b="0">
                <a:solidFill>
                  <a:srgbClr val="5B6778"/>
                </a:solidFill>
                <a:latin typeface="Calibri"/>
              </a:rPr>
              <a:t>computed facts</a:t>
            </a:r>
          </a:p>
        </p:txBody>
      </p:sp>
      <p:sp>
        <p:nvSpPr>
          <p:cNvPr id="17" name="TextBox 16"/>
          <p:cNvSpPr txBox="1"/>
          <p:nvPr/>
        </p:nvSpPr>
        <p:spPr>
          <a:xfrm>
            <a:off x="4069080" y="4983480"/>
            <a:ext cx="1645920" cy="502920"/>
          </a:xfrm>
          <a:prstGeom prst="rect">
            <a:avLst/>
          </a:prstGeom>
          <a:noFill/>
        </p:spPr>
        <p:txBody>
          <a:bodyPr wrap="square" anchor="t" lIns="0" rIns="0" tIns="0" bIns="0">
            <a:spAutoFit/>
          </a:bodyPr>
          <a:lstStyle/>
          <a:p>
            <a:pPr algn="l">
              <a:lnSpc>
                <a:spcPct val="100000"/>
              </a:lnSpc>
              <a:spcAft>
                <a:spcPts val="0"/>
              </a:spcAft>
            </a:pPr>
            <a:r>
              <a:rPr sz="2800" b="1">
                <a:solidFill>
                  <a:srgbClr val="1F3864"/>
                </a:solidFill>
                <a:latin typeface="Calibri"/>
              </a:rPr>
              <a:t>10</a:t>
            </a:r>
          </a:p>
        </p:txBody>
      </p:sp>
      <p:sp>
        <p:nvSpPr>
          <p:cNvPr id="18" name="TextBox 17"/>
          <p:cNvSpPr txBox="1"/>
          <p:nvPr/>
        </p:nvSpPr>
        <p:spPr>
          <a:xfrm>
            <a:off x="4069080" y="5504688"/>
            <a:ext cx="1645920" cy="274320"/>
          </a:xfrm>
          <a:prstGeom prst="rect">
            <a:avLst/>
          </a:prstGeom>
          <a:noFill/>
        </p:spPr>
        <p:txBody>
          <a:bodyPr wrap="square" anchor="t" lIns="0" rIns="0" tIns="0" bIns="0">
            <a:spAutoFit/>
          </a:bodyPr>
          <a:lstStyle/>
          <a:p>
            <a:pPr algn="l">
              <a:lnSpc>
                <a:spcPct val="100000"/>
              </a:lnSpc>
              <a:spcAft>
                <a:spcPts val="0"/>
              </a:spcAft>
            </a:pPr>
            <a:r>
              <a:rPr sz="1100" b="0">
                <a:solidFill>
                  <a:srgbClr val="5B6778"/>
                </a:solidFill>
                <a:latin typeface="Calibri"/>
              </a:rPr>
              <a:t>evidence links</a:t>
            </a:r>
          </a:p>
        </p:txBody>
      </p:sp>
      <p:sp>
        <p:nvSpPr>
          <p:cNvPr id="19" name="TextBox 18"/>
          <p:cNvSpPr txBox="1"/>
          <p:nvPr/>
        </p:nvSpPr>
        <p:spPr>
          <a:xfrm>
            <a:off x="777240" y="5833872"/>
            <a:ext cx="5029200" cy="274320"/>
          </a:xfrm>
          <a:prstGeom prst="rect">
            <a:avLst/>
          </a:prstGeom>
          <a:noFill/>
        </p:spPr>
        <p:txBody>
          <a:bodyPr wrap="square" anchor="t" lIns="0" rIns="0" tIns="0" bIns="0">
            <a:spAutoFit/>
          </a:bodyPr>
          <a:lstStyle/>
          <a:p>
            <a:pPr algn="l">
              <a:lnSpc>
                <a:spcPct val="100000"/>
              </a:lnSpc>
              <a:spcAft>
                <a:spcPts val="0"/>
              </a:spcAft>
            </a:pPr>
            <a:r>
              <a:rPr sz="1000" b="0">
                <a:solidFill>
                  <a:srgbClr val="5B6778"/>
                </a:solidFill>
                <a:latin typeface="Calibri"/>
              </a:rPr>
              <a:t>2026-07 vs 2026-08  |  DemoCo</a:t>
            </a:r>
          </a:p>
        </p:txBody>
      </p:sp>
      <p:sp>
        <p:nvSpPr>
          <p:cNvPr id="20" name="TextBox 19"/>
          <p:cNvSpPr txBox="1"/>
          <p:nvPr/>
        </p:nvSpPr>
        <p:spPr>
          <a:xfrm>
            <a:off x="6400800" y="1691640"/>
            <a:ext cx="5242255"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Our approach: a pipeline of specialised agents</a:t>
            </a:r>
          </a:p>
        </p:txBody>
      </p:sp>
      <p:sp>
        <p:nvSpPr>
          <p:cNvPr id="21" name="Rectangle 20"/>
          <p:cNvSpPr/>
          <p:nvPr/>
        </p:nvSpPr>
        <p:spPr>
          <a:xfrm>
            <a:off x="6400800" y="198424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0" y="2148840"/>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189988"/>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1</a:t>
            </a:r>
          </a:p>
        </p:txBody>
      </p:sp>
      <p:sp>
        <p:nvSpPr>
          <p:cNvPr id="24" name="TextBox 23"/>
          <p:cNvSpPr txBox="1"/>
          <p:nvPr/>
        </p:nvSpPr>
        <p:spPr>
          <a:xfrm>
            <a:off x="6903720" y="2185416"/>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Profile Builder</a:t>
            </a:r>
          </a:p>
        </p:txBody>
      </p:sp>
      <p:sp>
        <p:nvSpPr>
          <p:cNvPr id="25" name="Rectangle 24"/>
          <p:cNvSpPr/>
          <p:nvPr/>
        </p:nvSpPr>
        <p:spPr>
          <a:xfrm>
            <a:off x="6560820" y="2496312"/>
            <a:ext cx="12700" cy="10972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0800" y="2624328"/>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2665476"/>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2</a:t>
            </a:r>
          </a:p>
        </p:txBody>
      </p:sp>
      <p:sp>
        <p:nvSpPr>
          <p:cNvPr id="28" name="TextBox 27"/>
          <p:cNvSpPr txBox="1"/>
          <p:nvPr/>
        </p:nvSpPr>
        <p:spPr>
          <a:xfrm>
            <a:off x="6903720" y="2660904"/>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Data QA</a:t>
            </a:r>
          </a:p>
        </p:txBody>
      </p:sp>
      <p:sp>
        <p:nvSpPr>
          <p:cNvPr id="29" name="Rectangle 28"/>
          <p:cNvSpPr/>
          <p:nvPr/>
        </p:nvSpPr>
        <p:spPr>
          <a:xfrm>
            <a:off x="6560820" y="2971800"/>
            <a:ext cx="12700" cy="10972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00800" y="3099816"/>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40964"/>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3</a:t>
            </a:r>
          </a:p>
        </p:txBody>
      </p:sp>
      <p:sp>
        <p:nvSpPr>
          <p:cNvPr id="32" name="TextBox 31"/>
          <p:cNvSpPr txBox="1"/>
          <p:nvPr/>
        </p:nvSpPr>
        <p:spPr>
          <a:xfrm>
            <a:off x="6903720" y="3136392"/>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Analytics Engine</a:t>
            </a:r>
          </a:p>
        </p:txBody>
      </p:sp>
      <p:sp>
        <p:nvSpPr>
          <p:cNvPr id="33" name="Rectangle 32"/>
          <p:cNvSpPr/>
          <p:nvPr/>
        </p:nvSpPr>
        <p:spPr>
          <a:xfrm>
            <a:off x="6560820" y="3447288"/>
            <a:ext cx="12700" cy="10972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00800" y="3575304"/>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616452"/>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4</a:t>
            </a:r>
          </a:p>
        </p:txBody>
      </p:sp>
      <p:sp>
        <p:nvSpPr>
          <p:cNvPr id="36" name="TextBox 35"/>
          <p:cNvSpPr txBox="1"/>
          <p:nvPr/>
        </p:nvSpPr>
        <p:spPr>
          <a:xfrm>
            <a:off x="6903720" y="3611880"/>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Memory Agent</a:t>
            </a:r>
          </a:p>
        </p:txBody>
      </p:sp>
      <p:sp>
        <p:nvSpPr>
          <p:cNvPr id="37" name="Rectangle 36"/>
          <p:cNvSpPr/>
          <p:nvPr/>
        </p:nvSpPr>
        <p:spPr>
          <a:xfrm>
            <a:off x="6560820" y="3922776"/>
            <a:ext cx="12700" cy="10972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400800" y="4050792"/>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4091940"/>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5</a:t>
            </a:r>
          </a:p>
        </p:txBody>
      </p:sp>
      <p:sp>
        <p:nvSpPr>
          <p:cNvPr id="40" name="TextBox 39"/>
          <p:cNvSpPr txBox="1"/>
          <p:nvPr/>
        </p:nvSpPr>
        <p:spPr>
          <a:xfrm>
            <a:off x="6903720" y="4087368"/>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RAG Agent</a:t>
            </a:r>
          </a:p>
        </p:txBody>
      </p:sp>
      <p:sp>
        <p:nvSpPr>
          <p:cNvPr id="41" name="Rectangle 40"/>
          <p:cNvSpPr/>
          <p:nvPr/>
        </p:nvSpPr>
        <p:spPr>
          <a:xfrm>
            <a:off x="6560820" y="4398264"/>
            <a:ext cx="12700" cy="10972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00800" y="4526280"/>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4567428"/>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6</a:t>
            </a:r>
          </a:p>
        </p:txBody>
      </p:sp>
      <p:sp>
        <p:nvSpPr>
          <p:cNvPr id="44" name="TextBox 43"/>
          <p:cNvSpPr txBox="1"/>
          <p:nvPr/>
        </p:nvSpPr>
        <p:spPr>
          <a:xfrm>
            <a:off x="6903720" y="4562856"/>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Analyst</a:t>
            </a:r>
          </a:p>
        </p:txBody>
      </p:sp>
      <p:sp>
        <p:nvSpPr>
          <p:cNvPr id="45" name="Rectangle 44"/>
          <p:cNvSpPr/>
          <p:nvPr/>
        </p:nvSpPr>
        <p:spPr>
          <a:xfrm>
            <a:off x="6560820" y="4873752"/>
            <a:ext cx="12700" cy="10972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400800" y="5001768"/>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5042916"/>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7</a:t>
            </a:r>
          </a:p>
        </p:txBody>
      </p:sp>
      <p:sp>
        <p:nvSpPr>
          <p:cNvPr id="48" name="TextBox 47"/>
          <p:cNvSpPr txBox="1"/>
          <p:nvPr/>
        </p:nvSpPr>
        <p:spPr>
          <a:xfrm>
            <a:off x="6903720" y="5038344"/>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Safety Guardrail</a:t>
            </a:r>
          </a:p>
        </p:txBody>
      </p:sp>
      <p:sp>
        <p:nvSpPr>
          <p:cNvPr id="49" name="Rectangle 48"/>
          <p:cNvSpPr/>
          <p:nvPr/>
        </p:nvSpPr>
        <p:spPr>
          <a:xfrm>
            <a:off x="6560820" y="5349240"/>
            <a:ext cx="12700" cy="10972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400800" y="5477256"/>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0" y="5518404"/>
            <a:ext cx="329184"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Calibri"/>
              </a:rPr>
              <a:t>8</a:t>
            </a:r>
          </a:p>
        </p:txBody>
      </p:sp>
      <p:sp>
        <p:nvSpPr>
          <p:cNvPr id="52" name="TextBox 51"/>
          <p:cNvSpPr txBox="1"/>
          <p:nvPr/>
        </p:nvSpPr>
        <p:spPr>
          <a:xfrm>
            <a:off x="6903720" y="5513832"/>
            <a:ext cx="4693615" cy="27432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Stress Test</a:t>
            </a:r>
          </a:p>
        </p:txBody>
      </p:sp>
      <p:sp>
        <p:nvSpPr>
          <p:cNvPr id="53" name="TextBox 52"/>
          <p:cNvSpPr txBox="1"/>
          <p:nvPr/>
        </p:nvSpPr>
        <p:spPr>
          <a:xfrm>
            <a:off x="6400800" y="5989320"/>
            <a:ext cx="5242255" cy="365760"/>
          </a:xfrm>
          <a:prstGeom prst="rect">
            <a:avLst/>
          </a:prstGeom>
          <a:noFill/>
        </p:spPr>
        <p:txBody>
          <a:bodyPr wrap="square" anchor="t" lIns="0" rIns="0" tIns="0" bIns="0">
            <a:spAutoFit/>
          </a:bodyPr>
          <a:lstStyle/>
          <a:p>
            <a:pPr algn="l">
              <a:lnSpc>
                <a:spcPct val="100000"/>
              </a:lnSpc>
              <a:spcAft>
                <a:spcPts val="0"/>
              </a:spcAft>
            </a:pPr>
            <a:r>
              <a:rPr sz="1100" b="0">
                <a:solidFill>
                  <a:srgbClr val="5B6778"/>
                </a:solidFill>
                <a:latin typeface="Calibri"/>
              </a:rPr>
              <a:t>Deterministic maths computes every figure; the language model only explains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100" b="1">
                <a:solidFill>
                  <a:srgbClr val="2E75B6"/>
                </a:solidFill>
                <a:latin typeface="Calibri"/>
              </a:rPr>
              <a:t>ANALYSIS  |  REVENUE BRIDGE</a:t>
            </a:r>
          </a:p>
        </p:txBody>
      </p:sp>
      <p:sp>
        <p:nvSpPr>
          <p:cNvPr id="4" name="TextBox 3"/>
          <p:cNvSpPr txBox="1"/>
          <p:nvPr/>
        </p:nvSpPr>
        <p:spPr>
          <a:xfrm>
            <a:off x="548640" y="621792"/>
            <a:ext cx="11094415" cy="868680"/>
          </a:xfrm>
          <a:prstGeom prst="rect">
            <a:avLst/>
          </a:prstGeom>
          <a:noFill/>
        </p:spPr>
        <p:txBody>
          <a:bodyPr wrap="square" anchor="t" lIns="0" rIns="0" tIns="0" bIns="0">
            <a:spAutoFit/>
          </a:bodyPr>
          <a:lstStyle/>
          <a:p>
            <a:pPr algn="l">
              <a:lnSpc>
                <a:spcPct val="95000"/>
              </a:lnSpc>
              <a:spcAft>
                <a:spcPts val="0"/>
              </a:spcAft>
            </a:pPr>
            <a:r>
              <a:rPr sz="2600" b="1">
                <a:solidFill>
                  <a:srgbClr val="1F3864"/>
                </a:solidFill>
                <a:latin typeface="Calibri"/>
              </a:rPr>
              <a:t>Revenue moved +$33K (+22.0%); Meridian Health was the largest lift</a:t>
            </a:r>
          </a:p>
        </p:txBody>
      </p:sp>
      <p:sp>
        <p:nvSpPr>
          <p:cNvPr id="5" name="Rectangle 4"/>
          <p:cNvSpPr/>
          <p:nvPr/>
        </p:nvSpPr>
        <p:spPr>
          <a:xfrm>
            <a:off x="548640" y="6400800"/>
            <a:ext cx="11094415" cy="952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64808"/>
            <a:ext cx="8229600" cy="228600"/>
          </a:xfrm>
          <a:prstGeom prst="rect">
            <a:avLst/>
          </a:prstGeom>
          <a:noFill/>
        </p:spPr>
        <p:txBody>
          <a:bodyPr wrap="square" anchor="t" lIns="0" rIns="0" tIns="0" bIns="0">
            <a:spAutoFit/>
          </a:bodyPr>
          <a:lstStyle/>
          <a:p>
            <a:pPr algn="l">
              <a:lnSpc>
                <a:spcPct val="100000"/>
              </a:lnSpc>
              <a:spcAft>
                <a:spcPts val="0"/>
              </a:spcAft>
            </a:pPr>
            <a:r>
              <a:rPr sz="900" b="0">
                <a:solidFill>
                  <a:srgbClr val="5B6778"/>
                </a:solidFill>
                <a:latin typeface="Calibri"/>
              </a:rPr>
              <a:t>Ledgerlight  |  DemoCo  |  2026-07 to 2026-08  |  Run run_4fd778726cd1</a:t>
            </a:r>
          </a:p>
        </p:txBody>
      </p:sp>
      <p:sp>
        <p:nvSpPr>
          <p:cNvPr id="7" name="TextBox 6"/>
          <p:cNvSpPr txBox="1"/>
          <p:nvPr/>
        </p:nvSpPr>
        <p:spPr>
          <a:xfrm>
            <a:off x="10728655" y="6464808"/>
            <a:ext cx="914400" cy="228600"/>
          </a:xfrm>
          <a:prstGeom prst="rect">
            <a:avLst/>
          </a:prstGeom>
          <a:noFill/>
        </p:spPr>
        <p:txBody>
          <a:bodyPr wrap="square" anchor="t" lIns="0" rIns="0" tIns="0" bIns="0">
            <a:spAutoFit/>
          </a:bodyPr>
          <a:lstStyle/>
          <a:p>
            <a:pPr algn="r">
              <a:lnSpc>
                <a:spcPct val="100000"/>
              </a:lnSpc>
              <a:spcAft>
                <a:spcPts val="0"/>
              </a:spcAft>
            </a:pPr>
            <a:r>
              <a:rPr sz="900" b="0">
                <a:solidFill>
                  <a:srgbClr val="5B6778"/>
                </a:solidFill>
                <a:latin typeface="Calibri"/>
              </a:rPr>
              <a:t>3</a:t>
            </a:r>
          </a:p>
        </p:txBody>
      </p:sp>
      <p:sp>
        <p:nvSpPr>
          <p:cNvPr id="8" name="Rectangle 7"/>
          <p:cNvSpPr/>
          <p:nvPr/>
        </p:nvSpPr>
        <p:spPr>
          <a:xfrm>
            <a:off x="548640" y="1645920"/>
            <a:ext cx="6766560" cy="45720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0080" y="1737360"/>
          <a:ext cx="6583680" cy="4114800"/>
        </p:xfrm>
        <a:graphic>
          <a:graphicData uri="http://schemas.openxmlformats.org/drawingml/2006/chart">
            <c:chart xmlns:c="http://schemas.openxmlformats.org/drawingml/2006/chart" r:id="rId2"/>
          </a:graphicData>
        </a:graphic>
      </p:graphicFrame>
      <p:sp>
        <p:nvSpPr>
          <p:cNvPr id="10" name="TextBox 9"/>
          <p:cNvSpPr txBox="1"/>
          <p:nvPr/>
        </p:nvSpPr>
        <p:spPr>
          <a:xfrm>
            <a:off x="777240" y="5916168"/>
            <a:ext cx="6400800" cy="228600"/>
          </a:xfrm>
          <a:prstGeom prst="rect">
            <a:avLst/>
          </a:prstGeom>
          <a:noFill/>
        </p:spPr>
        <p:txBody>
          <a:bodyPr wrap="square" anchor="t" lIns="0" rIns="0" tIns="0" bIns="0">
            <a:spAutoFit/>
          </a:bodyPr>
          <a:lstStyle/>
          <a:p>
            <a:pPr algn="l">
              <a:lnSpc>
                <a:spcPct val="100000"/>
              </a:lnSpc>
              <a:spcAft>
                <a:spcPts val="0"/>
              </a:spcAft>
            </a:pPr>
            <a:r>
              <a:rPr sz="1000" b="0">
                <a:solidFill>
                  <a:srgbClr val="5B6778"/>
                </a:solidFill>
                <a:latin typeface="Calibri"/>
              </a:rPr>
              <a:t>Green adds revenue, red reduces it. % is each driver against opening revenue. Axis truncated.</a:t>
            </a:r>
          </a:p>
        </p:txBody>
      </p:sp>
      <p:sp>
        <p:nvSpPr>
          <p:cNvPr id="11" name="TextBox 10"/>
          <p:cNvSpPr txBox="1"/>
          <p:nvPr/>
        </p:nvSpPr>
        <p:spPr>
          <a:xfrm>
            <a:off x="7589520" y="1645920"/>
            <a:ext cx="4053535"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Share of revenue movement</a:t>
            </a:r>
          </a:p>
        </p:txBody>
      </p:sp>
      <p:sp>
        <p:nvSpPr>
          <p:cNvPr id="12" name="Rectangle 11"/>
          <p:cNvSpPr/>
          <p:nvPr/>
        </p:nvSpPr>
        <p:spPr>
          <a:xfrm>
            <a:off x="7589520" y="193852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2057400"/>
            <a:ext cx="4053535" cy="27432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Chart 13"/>
          <p:cNvGraphicFramePr>
            <a:graphicFrameLocks noGrp="1"/>
          </p:cNvGraphicFramePr>
          <p:nvPr/>
        </p:nvGraphicFramePr>
        <p:xfrm>
          <a:off x="7635240" y="2103120"/>
          <a:ext cx="3962095" cy="2651760"/>
        </p:xfrm>
        <a:graphic>
          <a:graphicData uri="http://schemas.openxmlformats.org/drawingml/2006/chart">
            <c:chart xmlns:c="http://schemas.openxmlformats.org/drawingml/2006/chart" r:id="rId3"/>
          </a:graphicData>
        </a:graphic>
      </p:graphicFrame>
      <p:sp>
        <p:nvSpPr>
          <p:cNvPr id="15" name="Rectangle 14"/>
          <p:cNvSpPr/>
          <p:nvPr/>
        </p:nvSpPr>
        <p:spPr>
          <a:xfrm>
            <a:off x="7589520" y="4937760"/>
            <a:ext cx="4053535" cy="128016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047488"/>
            <a:ext cx="3687775"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SO WHAT</a:t>
            </a:r>
          </a:p>
        </p:txBody>
      </p:sp>
      <p:sp>
        <p:nvSpPr>
          <p:cNvPr id="17" name="TextBox 16"/>
          <p:cNvSpPr txBox="1"/>
          <p:nvPr/>
        </p:nvSpPr>
        <p:spPr>
          <a:xfrm>
            <a:off x="7772400" y="5321808"/>
            <a:ext cx="3687775" cy="822960"/>
          </a:xfrm>
          <a:prstGeom prst="rect">
            <a:avLst/>
          </a:prstGeom>
          <a:noFill/>
        </p:spPr>
        <p:txBody>
          <a:bodyPr wrap="square" anchor="t" lIns="0" rIns="0" tIns="0" bIns="0">
            <a:spAutoFit/>
          </a:bodyPr>
          <a:lstStyle/>
          <a:p>
            <a:pPr algn="l">
              <a:lnSpc>
                <a:spcPct val="100000"/>
              </a:lnSpc>
              <a:spcAft>
                <a:spcPts val="0"/>
              </a:spcAft>
            </a:pPr>
            <a:r>
              <a:rPr sz="1300" b="1">
                <a:solidFill>
                  <a:srgbClr val="2E7D32"/>
                </a:solidFill>
                <a:latin typeface="Calibri"/>
              </a:rPr>
              <a:t>Meridian Health is 30% of the movement; net effect +$33K from 4 drivers.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100" b="1">
                <a:solidFill>
                  <a:srgbClr val="2E75B6"/>
                </a:solidFill>
                <a:latin typeface="Calibri"/>
              </a:rPr>
              <a:t>ANALYSIS  |  DRIVERS</a:t>
            </a:r>
          </a:p>
        </p:txBody>
      </p:sp>
      <p:sp>
        <p:nvSpPr>
          <p:cNvPr id="4" name="TextBox 3"/>
          <p:cNvSpPr txBox="1"/>
          <p:nvPr/>
        </p:nvSpPr>
        <p:spPr>
          <a:xfrm>
            <a:off x="548640" y="621792"/>
            <a:ext cx="11094415" cy="868680"/>
          </a:xfrm>
          <a:prstGeom prst="rect">
            <a:avLst/>
          </a:prstGeom>
          <a:noFill/>
        </p:spPr>
        <p:txBody>
          <a:bodyPr wrap="square" anchor="t" lIns="0" rIns="0" tIns="0" bIns="0">
            <a:spAutoFit/>
          </a:bodyPr>
          <a:lstStyle/>
          <a:p>
            <a:pPr algn="l">
              <a:lnSpc>
                <a:spcPct val="95000"/>
              </a:lnSpc>
              <a:spcAft>
                <a:spcPts val="0"/>
              </a:spcAft>
            </a:pPr>
            <a:r>
              <a:rPr sz="2600" b="1">
                <a:solidFill>
                  <a:srgbClr val="1F3864"/>
                </a:solidFill>
                <a:latin typeface="Calibri"/>
              </a:rPr>
              <a:t>Meridian Health alone accounts for +$10K of the movement</a:t>
            </a:r>
          </a:p>
        </p:txBody>
      </p:sp>
      <p:sp>
        <p:nvSpPr>
          <p:cNvPr id="5" name="Rectangle 4"/>
          <p:cNvSpPr/>
          <p:nvPr/>
        </p:nvSpPr>
        <p:spPr>
          <a:xfrm>
            <a:off x="548640" y="6400800"/>
            <a:ext cx="11094415" cy="952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64808"/>
            <a:ext cx="8229600" cy="228600"/>
          </a:xfrm>
          <a:prstGeom prst="rect">
            <a:avLst/>
          </a:prstGeom>
          <a:noFill/>
        </p:spPr>
        <p:txBody>
          <a:bodyPr wrap="square" anchor="t" lIns="0" rIns="0" tIns="0" bIns="0">
            <a:spAutoFit/>
          </a:bodyPr>
          <a:lstStyle/>
          <a:p>
            <a:pPr algn="l">
              <a:lnSpc>
                <a:spcPct val="100000"/>
              </a:lnSpc>
              <a:spcAft>
                <a:spcPts val="0"/>
              </a:spcAft>
            </a:pPr>
            <a:r>
              <a:rPr sz="900" b="0">
                <a:solidFill>
                  <a:srgbClr val="5B6778"/>
                </a:solidFill>
                <a:latin typeface="Calibri"/>
              </a:rPr>
              <a:t>Ledgerlight  |  DemoCo  |  2026-07 to 2026-08  |  Run run_4fd778726cd1</a:t>
            </a:r>
          </a:p>
        </p:txBody>
      </p:sp>
      <p:sp>
        <p:nvSpPr>
          <p:cNvPr id="7" name="TextBox 6"/>
          <p:cNvSpPr txBox="1"/>
          <p:nvPr/>
        </p:nvSpPr>
        <p:spPr>
          <a:xfrm>
            <a:off x="10728655" y="6464808"/>
            <a:ext cx="914400" cy="228600"/>
          </a:xfrm>
          <a:prstGeom prst="rect">
            <a:avLst/>
          </a:prstGeom>
          <a:noFill/>
        </p:spPr>
        <p:txBody>
          <a:bodyPr wrap="square" anchor="t" lIns="0" rIns="0" tIns="0" bIns="0">
            <a:spAutoFit/>
          </a:bodyPr>
          <a:lstStyle/>
          <a:p>
            <a:pPr algn="r">
              <a:lnSpc>
                <a:spcPct val="100000"/>
              </a:lnSpc>
              <a:spcAft>
                <a:spcPts val="0"/>
              </a:spcAft>
            </a:pPr>
            <a:r>
              <a:rPr sz="900" b="0">
                <a:solidFill>
                  <a:srgbClr val="5B6778"/>
                </a:solidFill>
                <a:latin typeface="Calibri"/>
              </a:rPr>
              <a:t>4</a:t>
            </a:r>
          </a:p>
        </p:txBody>
      </p:sp>
      <p:sp>
        <p:nvSpPr>
          <p:cNvPr id="8" name="TextBox 7"/>
          <p:cNvSpPr txBox="1"/>
          <p:nvPr/>
        </p:nvSpPr>
        <p:spPr>
          <a:xfrm>
            <a:off x="548640" y="1645920"/>
            <a:ext cx="5120640"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Change by driver, largest first</a:t>
            </a:r>
          </a:p>
        </p:txBody>
      </p:sp>
      <p:sp>
        <p:nvSpPr>
          <p:cNvPr id="9" name="Rectangle 8"/>
          <p:cNvSpPr/>
          <p:nvPr/>
        </p:nvSpPr>
        <p:spPr>
          <a:xfrm>
            <a:off x="548640" y="193852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057400"/>
            <a:ext cx="5120640" cy="416052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94360" y="2103120"/>
          <a:ext cx="5029200" cy="4069080"/>
        </p:xfrm>
        <a:graphic>
          <a:graphicData uri="http://schemas.openxmlformats.org/drawingml/2006/chart">
            <c:chart xmlns:c="http://schemas.openxmlformats.org/drawingml/2006/chart" r:id="rId2"/>
          </a:graphicData>
        </a:graphic>
      </p:graphicFrame>
      <p:sp>
        <p:nvSpPr>
          <p:cNvPr id="12" name="TextBox 11"/>
          <p:cNvSpPr txBox="1"/>
          <p:nvPr/>
        </p:nvSpPr>
        <p:spPr>
          <a:xfrm>
            <a:off x="5943600" y="1645920"/>
            <a:ext cx="5699455"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Ranked drivers with confidence</a:t>
            </a:r>
          </a:p>
        </p:txBody>
      </p:sp>
      <p:sp>
        <p:nvSpPr>
          <p:cNvPr id="13" name="Rectangle 12"/>
          <p:cNvSpPr/>
          <p:nvPr/>
        </p:nvSpPr>
        <p:spPr>
          <a:xfrm>
            <a:off x="5943600" y="193852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5943600" y="2103120"/>
          <a:ext cx="5699452" cy="2084832"/>
        </p:xfrm>
        <a:graphic>
          <a:graphicData uri="http://schemas.openxmlformats.org/drawingml/2006/table">
            <a:tbl>
              <a:tblPr firstRow="0" bandRow="0">
                <a:tableStyleId>{2D5ABB26-0587-4C30-8999-92F81FD0307C}</a:tableStyleId>
              </a:tblPr>
              <a:tblGrid>
                <a:gridCol w="1472892"/>
                <a:gridCol w="1344815"/>
                <a:gridCol w="768465"/>
                <a:gridCol w="832504"/>
                <a:gridCol w="704427"/>
                <a:gridCol w="576349"/>
              </a:tblGrid>
              <a:tr h="347472">
                <a:tc>
                  <a:txBody>
                    <a:bodyPr/>
                    <a:lstStyle/>
                    <a:p>
                      <a:pPr algn="l"/>
                      <a:r>
                        <a:rPr sz="1000" b="1">
                          <a:solidFill>
                            <a:srgbClr val="FFFFFF"/>
                          </a:solidFill>
                          <a:latin typeface="Calibri"/>
                        </a:rPr>
                        <a:t>Driver</a:t>
                      </a:r>
                    </a:p>
                  </a:txBody>
                  <a:tcPr marL="73152" marR="73152" marT="27432" marB="27432" anchor="ctr">
                    <a:solidFill>
                      <a:srgbClr val="1F3864"/>
                    </a:solidFill>
                  </a:tcPr>
                </a:tc>
                <a:tc>
                  <a:txBody>
                    <a:bodyPr/>
                    <a:lstStyle/>
                    <a:p>
                      <a:pPr algn="l"/>
                      <a:r>
                        <a:rPr sz="1000" b="1">
                          <a:solidFill>
                            <a:srgbClr val="FFFFFF"/>
                          </a:solidFill>
                          <a:latin typeface="Calibri"/>
                        </a:rPr>
                        <a:t>Account</a:t>
                      </a:r>
                    </a:p>
                  </a:txBody>
                  <a:tcPr marL="73152" marR="73152" marT="27432" marB="27432" anchor="ctr">
                    <a:solidFill>
                      <a:srgbClr val="1F3864"/>
                    </a:solidFill>
                  </a:tcPr>
                </a:tc>
                <a:tc>
                  <a:txBody>
                    <a:bodyPr/>
                    <a:lstStyle/>
                    <a:p>
                      <a:pPr algn="r"/>
                      <a:r>
                        <a:rPr sz="1000" b="1">
                          <a:solidFill>
                            <a:srgbClr val="FFFFFF"/>
                          </a:solidFill>
                          <a:latin typeface="Calibri"/>
                        </a:rPr>
                        <a:t>Prior</a:t>
                      </a:r>
                    </a:p>
                  </a:txBody>
                  <a:tcPr marL="73152" marR="73152" marT="27432" marB="27432" anchor="ctr">
                    <a:solidFill>
                      <a:srgbClr val="1F3864"/>
                    </a:solidFill>
                  </a:tcPr>
                </a:tc>
                <a:tc>
                  <a:txBody>
                    <a:bodyPr/>
                    <a:lstStyle/>
                    <a:p>
                      <a:pPr algn="r"/>
                      <a:r>
                        <a:rPr sz="1000" b="1">
                          <a:solidFill>
                            <a:srgbClr val="FFFFFF"/>
                          </a:solidFill>
                          <a:latin typeface="Calibri"/>
                        </a:rPr>
                        <a:t>Change</a:t>
                      </a:r>
                    </a:p>
                  </a:txBody>
                  <a:tcPr marL="73152" marR="73152" marT="27432" marB="27432" anchor="ctr">
                    <a:solidFill>
                      <a:srgbClr val="1F3864"/>
                    </a:solidFill>
                  </a:tcPr>
                </a:tc>
                <a:tc>
                  <a:txBody>
                    <a:bodyPr/>
                    <a:lstStyle/>
                    <a:p>
                      <a:pPr algn="r"/>
                      <a:r>
                        <a:rPr sz="1000" b="1">
                          <a:solidFill>
                            <a:srgbClr val="FFFFFF"/>
                          </a:solidFill>
                          <a:latin typeface="Calibri"/>
                        </a:rPr>
                        <a:t>% chg</a:t>
                      </a:r>
                    </a:p>
                  </a:txBody>
                  <a:tcPr marL="73152" marR="73152" marT="27432" marB="27432" anchor="ctr">
                    <a:solidFill>
                      <a:srgbClr val="1F3864"/>
                    </a:solidFill>
                  </a:tcPr>
                </a:tc>
                <a:tc>
                  <a:txBody>
                    <a:bodyPr/>
                    <a:lstStyle/>
                    <a:p>
                      <a:pPr algn="r"/>
                      <a:r>
                        <a:rPr sz="1000" b="1">
                          <a:solidFill>
                            <a:srgbClr val="FFFFFF"/>
                          </a:solidFill>
                          <a:latin typeface="Calibri"/>
                        </a:rPr>
                        <a:t>Conf.</a:t>
                      </a:r>
                    </a:p>
                  </a:txBody>
                  <a:tcPr marL="73152" marR="73152" marT="27432" marB="27432" anchor="ctr">
                    <a:solidFill>
                      <a:srgbClr val="1F3864"/>
                    </a:solidFill>
                  </a:tcPr>
                </a:tc>
              </a:tr>
              <a:tr h="347472">
                <a:tc>
                  <a:txBody>
                    <a:bodyPr/>
                    <a:lstStyle/>
                    <a:p>
                      <a:pPr algn="l"/>
                      <a:r>
                        <a:rPr sz="1050" b="0">
                          <a:solidFill>
                            <a:srgbClr val="1F2A44"/>
                          </a:solidFill>
                          <a:latin typeface="Calibri"/>
                        </a:rPr>
                        <a:t>Meridian Health</a:t>
                      </a:r>
                    </a:p>
                  </a:txBody>
                  <a:tcPr marL="73152" marR="73152" marT="27432" marB="27432" anchor="ctr">
                    <a:solidFill>
                      <a:srgbClr val="FFFFFF"/>
                    </a:solidFill>
                  </a:tcPr>
                </a:tc>
                <a:tc>
                  <a:txBody>
                    <a:bodyPr/>
                    <a:lstStyle/>
                    <a:p>
                      <a:pPr algn="l"/>
                      <a:r>
                        <a:rPr sz="1050" b="0">
                          <a:solidFill>
                            <a:srgbClr val="1F2A44"/>
                          </a:solidFill>
                          <a:latin typeface="Calibri"/>
                        </a:rPr>
                        <a:t>Subscription revenue</a:t>
                      </a:r>
                    </a:p>
                  </a:txBody>
                  <a:tcPr marL="73152" marR="73152" marT="27432" marB="27432" anchor="ctr">
                    <a:solidFill>
                      <a:srgbClr val="FFFFFF"/>
                    </a:solidFill>
                  </a:tcPr>
                </a:tc>
                <a:tc>
                  <a:txBody>
                    <a:bodyPr/>
                    <a:lstStyle/>
                    <a:p>
                      <a:pPr algn="r"/>
                      <a:r>
                        <a:rPr sz="1050" b="0">
                          <a:solidFill>
                            <a:srgbClr val="1F2A44"/>
                          </a:solidFill>
                          <a:latin typeface="Calibri"/>
                        </a:rPr>
                        <a:t>$0</a:t>
                      </a:r>
                    </a:p>
                  </a:txBody>
                  <a:tcPr marL="73152" marR="73152" marT="27432" marB="27432" anchor="ctr">
                    <a:solidFill>
                      <a:srgbClr val="FFFFFF"/>
                    </a:solidFill>
                  </a:tcPr>
                </a:tc>
                <a:tc>
                  <a:txBody>
                    <a:bodyPr/>
                    <a:lstStyle/>
                    <a:p>
                      <a:pPr algn="r"/>
                      <a:r>
                        <a:rPr sz="1050" b="0">
                          <a:solidFill>
                            <a:srgbClr val="2E7D32"/>
                          </a:solidFill>
                          <a:latin typeface="Calibri"/>
                        </a:rPr>
                        <a:t>+$10K</a:t>
                      </a:r>
                    </a:p>
                  </a:txBody>
                  <a:tcPr marL="73152" marR="73152" marT="27432" marB="27432" anchor="ctr">
                    <a:solidFill>
                      <a:srgbClr val="FFFFFF"/>
                    </a:solidFill>
                  </a:tcPr>
                </a:tc>
                <a:tc>
                  <a:txBody>
                    <a:bodyPr/>
                    <a:lstStyle/>
                    <a:p>
                      <a:pPr algn="r"/>
                      <a:r>
                        <a:rPr sz="1050" b="0">
                          <a:solidFill>
                            <a:srgbClr val="2E7D32"/>
                          </a:solidFill>
                          <a:latin typeface="Calibri"/>
                        </a:rPr>
                        <a:t>+100.0%</a:t>
                      </a:r>
                    </a:p>
                  </a:txBody>
                  <a:tcPr marL="73152" marR="73152" marT="27432" marB="27432" anchor="ctr">
                    <a:solidFill>
                      <a:srgbClr val="FFFFFF"/>
                    </a:solidFill>
                  </a:tcPr>
                </a:tc>
                <a:tc>
                  <a:txBody>
                    <a:bodyPr/>
                    <a:lstStyle/>
                    <a:p>
                      <a:pPr algn="r"/>
                      <a:r>
                        <a:rPr sz="1050" b="0">
                          <a:solidFill>
                            <a:srgbClr val="1F2A44"/>
                          </a:solidFill>
                          <a:latin typeface="Calibri"/>
                        </a:rPr>
                        <a:t>88%</a:t>
                      </a:r>
                    </a:p>
                  </a:txBody>
                  <a:tcPr marL="73152" marR="73152" marT="27432" marB="27432" anchor="ctr">
                    <a:solidFill>
                      <a:srgbClr val="FFFFFF"/>
                    </a:solidFill>
                  </a:tcPr>
                </a:tc>
              </a:tr>
              <a:tr h="347472">
                <a:tc>
                  <a:txBody>
                    <a:bodyPr/>
                    <a:lstStyle/>
                    <a:p>
                      <a:pPr algn="l"/>
                      <a:r>
                        <a:rPr sz="1050" b="0">
                          <a:solidFill>
                            <a:srgbClr val="1F2A44"/>
                          </a:solidFill>
                          <a:latin typeface="Calibri"/>
                        </a:rPr>
                        <a:t>SMB Bulk (aggregated)</a:t>
                      </a:r>
                    </a:p>
                  </a:txBody>
                  <a:tcPr marL="73152" marR="73152" marT="27432" marB="27432" anchor="ctr">
                    <a:solidFill>
                      <a:srgbClr val="F3F5F8"/>
                    </a:solidFill>
                  </a:tcPr>
                </a:tc>
                <a:tc>
                  <a:txBody>
                    <a:bodyPr/>
                    <a:lstStyle/>
                    <a:p>
                      <a:pPr algn="l"/>
                      <a:r>
                        <a:rPr sz="1050" b="0">
                          <a:solidFill>
                            <a:srgbClr val="1F2A44"/>
                          </a:solidFill>
                          <a:latin typeface="Calibri"/>
                        </a:rPr>
                        <a:t>Subscription revenue</a:t>
                      </a:r>
                    </a:p>
                  </a:txBody>
                  <a:tcPr marL="73152" marR="73152" marT="27432" marB="27432" anchor="ctr">
                    <a:solidFill>
                      <a:srgbClr val="F3F5F8"/>
                    </a:solidFill>
                  </a:tcPr>
                </a:tc>
                <a:tc>
                  <a:txBody>
                    <a:bodyPr/>
                    <a:lstStyle/>
                    <a:p>
                      <a:pPr algn="r"/>
                      <a:r>
                        <a:rPr sz="1050" b="0">
                          <a:solidFill>
                            <a:srgbClr val="1F2A44"/>
                          </a:solidFill>
                          <a:latin typeface="Calibri"/>
                        </a:rPr>
                        <a:t>$132K</a:t>
                      </a:r>
                    </a:p>
                  </a:txBody>
                  <a:tcPr marL="73152" marR="73152" marT="27432" marB="27432" anchor="ctr">
                    <a:solidFill>
                      <a:srgbClr val="F3F5F8"/>
                    </a:solidFill>
                  </a:tcPr>
                </a:tc>
                <a:tc>
                  <a:txBody>
                    <a:bodyPr/>
                    <a:lstStyle/>
                    <a:p>
                      <a:pPr algn="r"/>
                      <a:r>
                        <a:rPr sz="1050" b="0">
                          <a:solidFill>
                            <a:srgbClr val="2E7D32"/>
                          </a:solidFill>
                          <a:latin typeface="Calibri"/>
                        </a:rPr>
                        <a:t>+$9.0K</a:t>
                      </a:r>
                    </a:p>
                  </a:txBody>
                  <a:tcPr marL="73152" marR="73152" marT="27432" marB="27432" anchor="ctr">
                    <a:solidFill>
                      <a:srgbClr val="F3F5F8"/>
                    </a:solidFill>
                  </a:tcPr>
                </a:tc>
                <a:tc>
                  <a:txBody>
                    <a:bodyPr/>
                    <a:lstStyle/>
                    <a:p>
                      <a:pPr algn="r"/>
                      <a:r>
                        <a:rPr sz="1050" b="0">
                          <a:solidFill>
                            <a:srgbClr val="2E7D32"/>
                          </a:solidFill>
                          <a:latin typeface="Calibri"/>
                        </a:rPr>
                        <a:t>+6.8%</a:t>
                      </a:r>
                    </a:p>
                  </a:txBody>
                  <a:tcPr marL="73152" marR="73152" marT="27432" marB="27432" anchor="ctr">
                    <a:solidFill>
                      <a:srgbClr val="F3F5F8"/>
                    </a:solidFill>
                  </a:tcPr>
                </a:tc>
                <a:tc>
                  <a:txBody>
                    <a:bodyPr/>
                    <a:lstStyle/>
                    <a:p>
                      <a:pPr algn="r"/>
                      <a:r>
                        <a:rPr sz="1050" b="0">
                          <a:solidFill>
                            <a:srgbClr val="1F2A44"/>
                          </a:solidFill>
                          <a:latin typeface="Calibri"/>
                        </a:rPr>
                        <a:t>88%</a:t>
                      </a:r>
                    </a:p>
                  </a:txBody>
                  <a:tcPr marL="73152" marR="73152" marT="27432" marB="27432" anchor="ctr">
                    <a:solidFill>
                      <a:srgbClr val="F3F5F8"/>
                    </a:solidFill>
                  </a:tcPr>
                </a:tc>
              </a:tr>
              <a:tr h="347472">
                <a:tc>
                  <a:txBody>
                    <a:bodyPr/>
                    <a:lstStyle/>
                    <a:p>
                      <a:pPr algn="l"/>
                      <a:r>
                        <a:rPr sz="1050" b="0">
                          <a:solidFill>
                            <a:srgbClr val="1F2A44"/>
                          </a:solidFill>
                          <a:latin typeface="Calibri"/>
                        </a:rPr>
                        <a:t>Northwind Labs</a:t>
                      </a:r>
                    </a:p>
                  </a:txBody>
                  <a:tcPr marL="73152" marR="73152" marT="27432" marB="27432" anchor="ctr">
                    <a:solidFill>
                      <a:srgbClr val="FFFFFF"/>
                    </a:solidFill>
                  </a:tcPr>
                </a:tc>
                <a:tc>
                  <a:txBody>
                    <a:bodyPr/>
                    <a:lstStyle/>
                    <a:p>
                      <a:pPr algn="l"/>
                      <a:r>
                        <a:rPr sz="1050" b="0">
                          <a:solidFill>
                            <a:srgbClr val="1F2A44"/>
                          </a:solidFill>
                          <a:latin typeface="Calibri"/>
                        </a:rPr>
                        <a:t>Subscription revenue</a:t>
                      </a:r>
                    </a:p>
                  </a:txBody>
                  <a:tcPr marL="73152" marR="73152" marT="27432" marB="27432" anchor="ctr">
                    <a:solidFill>
                      <a:srgbClr val="FFFFFF"/>
                    </a:solidFill>
                  </a:tcPr>
                </a:tc>
                <a:tc>
                  <a:txBody>
                    <a:bodyPr/>
                    <a:lstStyle/>
                    <a:p>
                      <a:pPr algn="r"/>
                      <a:r>
                        <a:rPr sz="1050" b="0">
                          <a:solidFill>
                            <a:srgbClr val="1F2A44"/>
                          </a:solidFill>
                          <a:latin typeface="Calibri"/>
                        </a:rPr>
                        <a:t>$10K</a:t>
                      </a:r>
                    </a:p>
                  </a:txBody>
                  <a:tcPr marL="73152" marR="73152" marT="27432" marB="27432" anchor="ctr">
                    <a:solidFill>
                      <a:srgbClr val="FFFFFF"/>
                    </a:solidFill>
                  </a:tcPr>
                </a:tc>
                <a:tc>
                  <a:txBody>
                    <a:bodyPr/>
                    <a:lstStyle/>
                    <a:p>
                      <a:pPr algn="r"/>
                      <a:r>
                        <a:rPr sz="1050" b="0">
                          <a:solidFill>
                            <a:srgbClr val="2E7D32"/>
                          </a:solidFill>
                          <a:latin typeface="Calibri"/>
                        </a:rPr>
                        <a:t>+$8.0K</a:t>
                      </a:r>
                    </a:p>
                  </a:txBody>
                  <a:tcPr marL="73152" marR="73152" marT="27432" marB="27432" anchor="ctr">
                    <a:solidFill>
                      <a:srgbClr val="FFFFFF"/>
                    </a:solidFill>
                  </a:tcPr>
                </a:tc>
                <a:tc>
                  <a:txBody>
                    <a:bodyPr/>
                    <a:lstStyle/>
                    <a:p>
                      <a:pPr algn="r"/>
                      <a:r>
                        <a:rPr sz="1050" b="0">
                          <a:solidFill>
                            <a:srgbClr val="2E7D32"/>
                          </a:solidFill>
                          <a:latin typeface="Calibri"/>
                        </a:rPr>
                        <a:t>+80.0%</a:t>
                      </a:r>
                    </a:p>
                  </a:txBody>
                  <a:tcPr marL="73152" marR="73152" marT="27432" marB="27432" anchor="ctr">
                    <a:solidFill>
                      <a:srgbClr val="FFFFFF"/>
                    </a:solidFill>
                  </a:tcPr>
                </a:tc>
                <a:tc>
                  <a:txBody>
                    <a:bodyPr/>
                    <a:lstStyle/>
                    <a:p>
                      <a:pPr algn="r"/>
                      <a:r>
                        <a:rPr sz="1050" b="0">
                          <a:solidFill>
                            <a:srgbClr val="1F2A44"/>
                          </a:solidFill>
                          <a:latin typeface="Calibri"/>
                        </a:rPr>
                        <a:t>88%</a:t>
                      </a:r>
                    </a:p>
                  </a:txBody>
                  <a:tcPr marL="73152" marR="73152" marT="27432" marB="27432" anchor="ctr">
                    <a:solidFill>
                      <a:srgbClr val="FFFFFF"/>
                    </a:solidFill>
                  </a:tcPr>
                </a:tc>
              </a:tr>
              <a:tr h="347472">
                <a:tc>
                  <a:txBody>
                    <a:bodyPr/>
                    <a:lstStyle/>
                    <a:p>
                      <a:pPr algn="l"/>
                      <a:r>
                        <a:rPr sz="1050" b="0">
                          <a:solidFill>
                            <a:srgbClr val="1F2A44"/>
                          </a:solidFill>
                          <a:latin typeface="Calibri"/>
                        </a:rPr>
                        <a:t>AWS</a:t>
                      </a:r>
                    </a:p>
                  </a:txBody>
                  <a:tcPr marL="73152" marR="73152" marT="27432" marB="27432" anchor="ctr">
                    <a:solidFill>
                      <a:srgbClr val="F3F5F8"/>
                    </a:solidFill>
                  </a:tcPr>
                </a:tc>
                <a:tc>
                  <a:txBody>
                    <a:bodyPr/>
                    <a:lstStyle/>
                    <a:p>
                      <a:pPr algn="l"/>
                      <a:r>
                        <a:rPr sz="1050" b="0">
                          <a:solidFill>
                            <a:srgbClr val="1F2A44"/>
                          </a:solidFill>
                          <a:latin typeface="Calibri"/>
                        </a:rPr>
                        <a:t>Cloud hosting</a:t>
                      </a:r>
                    </a:p>
                  </a:txBody>
                  <a:tcPr marL="73152" marR="73152" marT="27432" marB="27432" anchor="ctr">
                    <a:solidFill>
                      <a:srgbClr val="F3F5F8"/>
                    </a:solidFill>
                  </a:tcPr>
                </a:tc>
                <a:tc>
                  <a:txBody>
                    <a:bodyPr/>
                    <a:lstStyle/>
                    <a:p>
                      <a:pPr algn="r"/>
                      <a:r>
                        <a:rPr sz="1050" b="0">
                          <a:solidFill>
                            <a:srgbClr val="1F2A44"/>
                          </a:solidFill>
                          <a:latin typeface="Calibri"/>
                        </a:rPr>
                        <a:t>$29K</a:t>
                      </a:r>
                    </a:p>
                  </a:txBody>
                  <a:tcPr marL="73152" marR="73152" marT="27432" marB="27432" anchor="ctr">
                    <a:solidFill>
                      <a:srgbClr val="F3F5F8"/>
                    </a:solidFill>
                  </a:tcPr>
                </a:tc>
                <a:tc>
                  <a:txBody>
                    <a:bodyPr/>
                    <a:lstStyle/>
                    <a:p>
                      <a:pPr algn="r"/>
                      <a:r>
                        <a:rPr sz="1050" b="0">
                          <a:solidFill>
                            <a:srgbClr val="2E7D32"/>
                          </a:solidFill>
                          <a:latin typeface="Calibri"/>
                        </a:rPr>
                        <a:t>+$6.4K</a:t>
                      </a:r>
                    </a:p>
                  </a:txBody>
                  <a:tcPr marL="73152" marR="73152" marT="27432" marB="27432" anchor="ctr">
                    <a:solidFill>
                      <a:srgbClr val="F3F5F8"/>
                    </a:solidFill>
                  </a:tcPr>
                </a:tc>
                <a:tc>
                  <a:txBody>
                    <a:bodyPr/>
                    <a:lstStyle/>
                    <a:p>
                      <a:pPr algn="r"/>
                      <a:r>
                        <a:rPr sz="1050" b="0">
                          <a:solidFill>
                            <a:srgbClr val="2E7D32"/>
                          </a:solidFill>
                          <a:latin typeface="Calibri"/>
                        </a:rPr>
                        <a:t>+22.0%</a:t>
                      </a:r>
                    </a:p>
                  </a:txBody>
                  <a:tcPr marL="73152" marR="73152" marT="27432" marB="27432" anchor="ctr">
                    <a:solidFill>
                      <a:srgbClr val="F3F5F8"/>
                    </a:solidFill>
                  </a:tcPr>
                </a:tc>
                <a:tc>
                  <a:txBody>
                    <a:bodyPr/>
                    <a:lstStyle/>
                    <a:p>
                      <a:pPr algn="r"/>
                      <a:r>
                        <a:rPr sz="1050" b="0">
                          <a:solidFill>
                            <a:srgbClr val="1F2A44"/>
                          </a:solidFill>
                          <a:latin typeface="Calibri"/>
                        </a:rPr>
                        <a:t>88%</a:t>
                      </a:r>
                    </a:p>
                  </a:txBody>
                  <a:tcPr marL="73152" marR="73152" marT="27432" marB="27432" anchor="ctr">
                    <a:solidFill>
                      <a:srgbClr val="F3F5F8"/>
                    </a:solidFill>
                  </a:tcPr>
                </a:tc>
              </a:tr>
              <a:tr h="347472">
                <a:tc>
                  <a:txBody>
                    <a:bodyPr/>
                    <a:lstStyle/>
                    <a:p>
                      <a:pPr algn="l"/>
                      <a:r>
                        <a:rPr sz="1050" b="0">
                          <a:solidFill>
                            <a:srgbClr val="1F2A44"/>
                          </a:solidFill>
                          <a:latin typeface="Calibri"/>
                        </a:rPr>
                        <a:t>AtlasGrid</a:t>
                      </a:r>
                    </a:p>
                  </a:txBody>
                  <a:tcPr marL="73152" marR="73152" marT="27432" marB="27432" anchor="ctr">
                    <a:solidFill>
                      <a:srgbClr val="FFFFFF"/>
                    </a:solidFill>
                  </a:tcPr>
                </a:tc>
                <a:tc>
                  <a:txBody>
                    <a:bodyPr/>
                    <a:lstStyle/>
                    <a:p>
                      <a:pPr algn="l"/>
                      <a:r>
                        <a:rPr sz="1050" b="0">
                          <a:solidFill>
                            <a:srgbClr val="1F2A44"/>
                          </a:solidFill>
                          <a:latin typeface="Calibri"/>
                        </a:rPr>
                        <a:t>Subscription revenue</a:t>
                      </a:r>
                    </a:p>
                  </a:txBody>
                  <a:tcPr marL="73152" marR="73152" marT="27432" marB="27432" anchor="ctr">
                    <a:solidFill>
                      <a:srgbClr val="FFFFFF"/>
                    </a:solidFill>
                  </a:tcPr>
                </a:tc>
                <a:tc>
                  <a:txBody>
                    <a:bodyPr/>
                    <a:lstStyle/>
                    <a:p>
                      <a:pPr algn="r"/>
                      <a:r>
                        <a:rPr sz="1050" b="0">
                          <a:solidFill>
                            <a:srgbClr val="1F2A44"/>
                          </a:solidFill>
                          <a:latin typeface="Calibri"/>
                        </a:rPr>
                        <a:t>$8.0K</a:t>
                      </a:r>
                    </a:p>
                  </a:txBody>
                  <a:tcPr marL="73152" marR="73152" marT="27432" marB="27432" anchor="ctr">
                    <a:solidFill>
                      <a:srgbClr val="FFFFFF"/>
                    </a:solidFill>
                  </a:tcPr>
                </a:tc>
                <a:tc>
                  <a:txBody>
                    <a:bodyPr/>
                    <a:lstStyle/>
                    <a:p>
                      <a:pPr algn="r"/>
                      <a:r>
                        <a:rPr sz="1050" b="0">
                          <a:solidFill>
                            <a:srgbClr val="2E7D32"/>
                          </a:solidFill>
                          <a:latin typeface="Calibri"/>
                        </a:rPr>
                        <a:t>+$6.0K</a:t>
                      </a:r>
                    </a:p>
                  </a:txBody>
                  <a:tcPr marL="73152" marR="73152" marT="27432" marB="27432" anchor="ctr">
                    <a:solidFill>
                      <a:srgbClr val="FFFFFF"/>
                    </a:solidFill>
                  </a:tcPr>
                </a:tc>
                <a:tc>
                  <a:txBody>
                    <a:bodyPr/>
                    <a:lstStyle/>
                    <a:p>
                      <a:pPr algn="r"/>
                      <a:r>
                        <a:rPr sz="1050" b="0">
                          <a:solidFill>
                            <a:srgbClr val="2E7D32"/>
                          </a:solidFill>
                          <a:latin typeface="Calibri"/>
                        </a:rPr>
                        <a:t>+75.0%</a:t>
                      </a:r>
                    </a:p>
                  </a:txBody>
                  <a:tcPr marL="73152" marR="73152" marT="27432" marB="27432" anchor="ctr">
                    <a:solidFill>
                      <a:srgbClr val="FFFFFF"/>
                    </a:solidFill>
                  </a:tcPr>
                </a:tc>
                <a:tc>
                  <a:txBody>
                    <a:bodyPr/>
                    <a:lstStyle/>
                    <a:p>
                      <a:pPr algn="r"/>
                      <a:r>
                        <a:rPr sz="1050" b="0">
                          <a:solidFill>
                            <a:srgbClr val="1F2A44"/>
                          </a:solidFill>
                          <a:latin typeface="Calibri"/>
                        </a:rPr>
                        <a:t>88%</a:t>
                      </a:r>
                    </a:p>
                  </a:txBody>
                  <a:tcPr marL="73152" marR="73152" marT="27432" marB="27432" anchor="ctr">
                    <a:solidFill>
                      <a:srgbClr val="FFFFFF"/>
                    </a:solidFill>
                  </a:tcPr>
                </a:tc>
              </a:tr>
            </a:tbl>
          </a:graphicData>
        </a:graphic>
      </p:graphicFrame>
      <p:sp>
        <p:nvSpPr>
          <p:cNvPr id="15" name="TextBox 14"/>
          <p:cNvSpPr txBox="1"/>
          <p:nvPr/>
        </p:nvSpPr>
        <p:spPr>
          <a:xfrm>
            <a:off x="5943600" y="4297680"/>
            <a:ext cx="5699455" cy="457200"/>
          </a:xfrm>
          <a:prstGeom prst="rect">
            <a:avLst/>
          </a:prstGeom>
          <a:noFill/>
        </p:spPr>
        <p:txBody>
          <a:bodyPr wrap="square" anchor="t" lIns="0" rIns="0" tIns="0" bIns="0">
            <a:spAutoFit/>
          </a:bodyPr>
          <a:lstStyle/>
          <a:p>
            <a:pPr algn="l">
              <a:lnSpc>
                <a:spcPct val="100000"/>
              </a:lnSpc>
              <a:spcAft>
                <a:spcPts val="0"/>
              </a:spcAft>
            </a:pPr>
            <a:r>
              <a:rPr sz="1000" b="0">
                <a:solidFill>
                  <a:srgbClr val="5B6778"/>
                </a:solidFill>
                <a:latin typeface="Calibri"/>
              </a:rPr>
              <a:t>Prior is the driver's own total in the earlier period; % chg is measured against it. Confidence reflects how completely evidence supports each figure.</a:t>
            </a:r>
          </a:p>
        </p:txBody>
      </p:sp>
      <p:sp>
        <p:nvSpPr>
          <p:cNvPr id="16" name="Rectangle 15"/>
          <p:cNvSpPr/>
          <p:nvPr/>
        </p:nvSpPr>
        <p:spPr>
          <a:xfrm>
            <a:off x="5943600" y="4892040"/>
            <a:ext cx="5699455" cy="132588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0" y="4892040"/>
            <a:ext cx="54864" cy="13258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4983480"/>
            <a:ext cx="5333695" cy="22860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CONCENTRATION</a:t>
            </a:r>
          </a:p>
        </p:txBody>
      </p:sp>
      <p:sp>
        <p:nvSpPr>
          <p:cNvPr id="19" name="TextBox 18"/>
          <p:cNvSpPr txBox="1"/>
          <p:nvPr/>
        </p:nvSpPr>
        <p:spPr>
          <a:xfrm>
            <a:off x="6172200" y="5239512"/>
            <a:ext cx="5333695" cy="9601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The top three drivers explain 82% of the net change across 5 drivers; average confidence is 88%.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100" b="1">
                <a:solidFill>
                  <a:srgbClr val="2E75B6"/>
                </a:solidFill>
                <a:latin typeface="Calibri"/>
              </a:rPr>
              <a:t>ASSURANCE</a:t>
            </a:r>
          </a:p>
        </p:txBody>
      </p:sp>
      <p:sp>
        <p:nvSpPr>
          <p:cNvPr id="4" name="TextBox 3"/>
          <p:cNvSpPr txBox="1"/>
          <p:nvPr/>
        </p:nvSpPr>
        <p:spPr>
          <a:xfrm>
            <a:off x="548640" y="621792"/>
            <a:ext cx="11094415" cy="868680"/>
          </a:xfrm>
          <a:prstGeom prst="rect">
            <a:avLst/>
          </a:prstGeom>
          <a:noFill/>
        </p:spPr>
        <p:txBody>
          <a:bodyPr wrap="square" anchor="t" lIns="0" rIns="0" tIns="0" bIns="0">
            <a:spAutoFit/>
          </a:bodyPr>
          <a:lstStyle/>
          <a:p>
            <a:pPr algn="l">
              <a:lnSpc>
                <a:spcPct val="95000"/>
              </a:lnSpc>
              <a:spcAft>
                <a:spcPts val="0"/>
              </a:spcAft>
            </a:pPr>
            <a:r>
              <a:rPr sz="2600" b="1">
                <a:solidFill>
                  <a:srgbClr val="1F3864"/>
                </a:solidFill>
                <a:latin typeface="Calibri"/>
              </a:rPr>
              <a:t>Every number is verified against source data before it reaches a slide</a:t>
            </a:r>
          </a:p>
        </p:txBody>
      </p:sp>
      <p:sp>
        <p:nvSpPr>
          <p:cNvPr id="5" name="Rectangle 4"/>
          <p:cNvSpPr/>
          <p:nvPr/>
        </p:nvSpPr>
        <p:spPr>
          <a:xfrm>
            <a:off x="548640" y="6400800"/>
            <a:ext cx="11094415" cy="952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64808"/>
            <a:ext cx="8229600" cy="228600"/>
          </a:xfrm>
          <a:prstGeom prst="rect">
            <a:avLst/>
          </a:prstGeom>
          <a:noFill/>
        </p:spPr>
        <p:txBody>
          <a:bodyPr wrap="square" anchor="t" lIns="0" rIns="0" tIns="0" bIns="0">
            <a:spAutoFit/>
          </a:bodyPr>
          <a:lstStyle/>
          <a:p>
            <a:pPr algn="l">
              <a:lnSpc>
                <a:spcPct val="100000"/>
              </a:lnSpc>
              <a:spcAft>
                <a:spcPts val="0"/>
              </a:spcAft>
            </a:pPr>
            <a:r>
              <a:rPr sz="900" b="0">
                <a:solidFill>
                  <a:srgbClr val="5B6778"/>
                </a:solidFill>
                <a:latin typeface="Calibri"/>
              </a:rPr>
              <a:t>Ledgerlight  |  DemoCo  |  2026-07 to 2026-08  |  Run run_4fd778726cd1</a:t>
            </a:r>
          </a:p>
        </p:txBody>
      </p:sp>
      <p:sp>
        <p:nvSpPr>
          <p:cNvPr id="7" name="TextBox 6"/>
          <p:cNvSpPr txBox="1"/>
          <p:nvPr/>
        </p:nvSpPr>
        <p:spPr>
          <a:xfrm>
            <a:off x="10728655" y="6464808"/>
            <a:ext cx="914400" cy="228600"/>
          </a:xfrm>
          <a:prstGeom prst="rect">
            <a:avLst/>
          </a:prstGeom>
          <a:noFill/>
        </p:spPr>
        <p:txBody>
          <a:bodyPr wrap="square" anchor="t" lIns="0" rIns="0" tIns="0" bIns="0">
            <a:spAutoFit/>
          </a:bodyPr>
          <a:lstStyle/>
          <a:p>
            <a:pPr algn="r">
              <a:lnSpc>
                <a:spcPct val="100000"/>
              </a:lnSpc>
              <a:spcAft>
                <a:spcPts val="0"/>
              </a:spcAft>
            </a:pPr>
            <a:r>
              <a:rPr sz="900" b="0">
                <a:solidFill>
                  <a:srgbClr val="5B6778"/>
                </a:solidFill>
                <a:latin typeface="Calibri"/>
              </a:rPr>
              <a:t>5</a:t>
            </a:r>
          </a:p>
        </p:txBody>
      </p:sp>
      <p:sp>
        <p:nvSpPr>
          <p:cNvPr id="8" name="Rectangle 7"/>
          <p:cNvSpPr/>
          <p:nvPr/>
        </p:nvSpPr>
        <p:spPr>
          <a:xfrm>
            <a:off x="548640" y="1691640"/>
            <a:ext cx="2651760" cy="11430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91640"/>
            <a:ext cx="54864" cy="1143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19656"/>
            <a:ext cx="228600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DATA QUALITY SCORE</a:t>
            </a:r>
          </a:p>
        </p:txBody>
      </p:sp>
      <p:sp>
        <p:nvSpPr>
          <p:cNvPr id="11" name="TextBox 10"/>
          <p:cNvSpPr txBox="1"/>
          <p:nvPr/>
        </p:nvSpPr>
        <p:spPr>
          <a:xfrm>
            <a:off x="777240" y="2112264"/>
            <a:ext cx="2286000" cy="685800"/>
          </a:xfrm>
          <a:prstGeom prst="rect">
            <a:avLst/>
          </a:prstGeom>
          <a:noFill/>
        </p:spPr>
        <p:txBody>
          <a:bodyPr wrap="square" anchor="t" lIns="0" rIns="0" tIns="0" bIns="0">
            <a:spAutoFit/>
          </a:bodyPr>
          <a:lstStyle/>
          <a:p>
            <a:pPr algn="l">
              <a:lnSpc>
                <a:spcPct val="100000"/>
              </a:lnSpc>
              <a:spcAft>
                <a:spcPts val="0"/>
              </a:spcAft>
            </a:pPr>
            <a:r>
              <a:rPr sz="2600" b="1">
                <a:solidFill>
                  <a:srgbClr val="1F2A44"/>
                </a:solidFill>
                <a:latin typeface="Calibri"/>
              </a:rPr>
              <a:t>100%</a:t>
            </a:r>
          </a:p>
        </p:txBody>
      </p:sp>
      <p:sp>
        <p:nvSpPr>
          <p:cNvPr id="12" name="Rectangle 11"/>
          <p:cNvSpPr/>
          <p:nvPr/>
        </p:nvSpPr>
        <p:spPr>
          <a:xfrm>
            <a:off x="3383280" y="1691640"/>
            <a:ext cx="2651760" cy="11430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1691640"/>
            <a:ext cx="54864" cy="1143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1819656"/>
            <a:ext cx="228600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OVERALL CONFIDENCE</a:t>
            </a:r>
          </a:p>
        </p:txBody>
      </p:sp>
      <p:sp>
        <p:nvSpPr>
          <p:cNvPr id="15" name="TextBox 14"/>
          <p:cNvSpPr txBox="1"/>
          <p:nvPr/>
        </p:nvSpPr>
        <p:spPr>
          <a:xfrm>
            <a:off x="3611880" y="2112264"/>
            <a:ext cx="2286000" cy="685800"/>
          </a:xfrm>
          <a:prstGeom prst="rect">
            <a:avLst/>
          </a:prstGeom>
          <a:noFill/>
        </p:spPr>
        <p:txBody>
          <a:bodyPr wrap="square" anchor="t" lIns="0" rIns="0" tIns="0" bIns="0">
            <a:spAutoFit/>
          </a:bodyPr>
          <a:lstStyle/>
          <a:p>
            <a:pPr algn="l">
              <a:lnSpc>
                <a:spcPct val="100000"/>
              </a:lnSpc>
              <a:spcAft>
                <a:spcPts val="0"/>
              </a:spcAft>
            </a:pPr>
            <a:r>
              <a:rPr sz="2600" b="1">
                <a:solidFill>
                  <a:srgbClr val="1F2A44"/>
                </a:solidFill>
                <a:latin typeface="Calibri"/>
              </a:rPr>
              <a:t>88%</a:t>
            </a:r>
          </a:p>
        </p:txBody>
      </p:sp>
      <p:sp>
        <p:nvSpPr>
          <p:cNvPr id="16" name="Rectangle 15"/>
          <p:cNvSpPr/>
          <p:nvPr/>
        </p:nvSpPr>
        <p:spPr>
          <a:xfrm>
            <a:off x="6217920" y="1691640"/>
            <a:ext cx="2651760" cy="11430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91640"/>
            <a:ext cx="54864" cy="1143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819656"/>
            <a:ext cx="228600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NUMBERS VERIFIED</a:t>
            </a:r>
          </a:p>
        </p:txBody>
      </p:sp>
      <p:sp>
        <p:nvSpPr>
          <p:cNvPr id="19" name="TextBox 18"/>
          <p:cNvSpPr txBox="1"/>
          <p:nvPr/>
        </p:nvSpPr>
        <p:spPr>
          <a:xfrm>
            <a:off x="6446520" y="2112264"/>
            <a:ext cx="2286000" cy="685800"/>
          </a:xfrm>
          <a:prstGeom prst="rect">
            <a:avLst/>
          </a:prstGeom>
          <a:noFill/>
        </p:spPr>
        <p:txBody>
          <a:bodyPr wrap="square" anchor="t" lIns="0" rIns="0" tIns="0" bIns="0">
            <a:spAutoFit/>
          </a:bodyPr>
          <a:lstStyle/>
          <a:p>
            <a:pPr algn="l">
              <a:lnSpc>
                <a:spcPct val="100000"/>
              </a:lnSpc>
              <a:spcAft>
                <a:spcPts val="0"/>
              </a:spcAft>
            </a:pPr>
            <a:r>
              <a:rPr sz="2600" b="1">
                <a:solidFill>
                  <a:srgbClr val="2E7D32"/>
                </a:solidFill>
                <a:latin typeface="Calibri"/>
              </a:rPr>
              <a:t>16/16</a:t>
            </a:r>
          </a:p>
        </p:txBody>
      </p:sp>
      <p:sp>
        <p:nvSpPr>
          <p:cNvPr id="20" name="Rectangle 19"/>
          <p:cNvSpPr/>
          <p:nvPr/>
        </p:nvSpPr>
        <p:spPr>
          <a:xfrm>
            <a:off x="9052560" y="1691640"/>
            <a:ext cx="2651760" cy="11430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52560" y="1691640"/>
            <a:ext cx="54864" cy="11430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1819656"/>
            <a:ext cx="2286000"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GUARDRAIL STATUS</a:t>
            </a:r>
          </a:p>
        </p:txBody>
      </p:sp>
      <p:sp>
        <p:nvSpPr>
          <p:cNvPr id="23" name="TextBox 22"/>
          <p:cNvSpPr txBox="1"/>
          <p:nvPr/>
        </p:nvSpPr>
        <p:spPr>
          <a:xfrm>
            <a:off x="9281160" y="2112264"/>
            <a:ext cx="2286000" cy="685800"/>
          </a:xfrm>
          <a:prstGeom prst="rect">
            <a:avLst/>
          </a:prstGeom>
          <a:noFill/>
        </p:spPr>
        <p:txBody>
          <a:bodyPr wrap="square" anchor="t" lIns="0" rIns="0" tIns="0" bIns="0">
            <a:spAutoFit/>
          </a:bodyPr>
          <a:lstStyle/>
          <a:p>
            <a:pPr algn="l">
              <a:lnSpc>
                <a:spcPct val="100000"/>
              </a:lnSpc>
              <a:spcAft>
                <a:spcPts val="0"/>
              </a:spcAft>
            </a:pPr>
            <a:r>
              <a:rPr sz="1700" b="1">
                <a:solidFill>
                  <a:srgbClr val="1F2A44"/>
                </a:solidFill>
                <a:latin typeface="Calibri"/>
              </a:rPr>
              <a:t>Approved With Caveats</a:t>
            </a:r>
          </a:p>
        </p:txBody>
      </p:sp>
      <p:sp>
        <p:nvSpPr>
          <p:cNvPr id="24" name="TextBox 23"/>
          <p:cNvSpPr txBox="1"/>
          <p:nvPr/>
        </p:nvSpPr>
        <p:spPr>
          <a:xfrm>
            <a:off x="548640" y="3063240"/>
            <a:ext cx="5943600"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Agent run: time spent per stage</a:t>
            </a:r>
          </a:p>
        </p:txBody>
      </p:sp>
      <p:sp>
        <p:nvSpPr>
          <p:cNvPr id="25" name="Rectangle 24"/>
          <p:cNvSpPr/>
          <p:nvPr/>
        </p:nvSpPr>
        <p:spPr>
          <a:xfrm>
            <a:off x="548640" y="335584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74720"/>
            <a:ext cx="6400800" cy="27432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7" name="Chart 26"/>
          <p:cNvGraphicFramePr>
            <a:graphicFrameLocks noGrp="1"/>
          </p:cNvGraphicFramePr>
          <p:nvPr/>
        </p:nvGraphicFramePr>
        <p:xfrm>
          <a:off x="594360" y="3520440"/>
          <a:ext cx="6309360" cy="2651760"/>
        </p:xfrm>
        <a:graphic>
          <a:graphicData uri="http://schemas.openxmlformats.org/drawingml/2006/chart">
            <c:chart xmlns:c="http://schemas.openxmlformats.org/drawingml/2006/chart" r:id="rId2"/>
          </a:graphicData>
        </a:graphic>
      </p:graphicFrame>
      <p:sp>
        <p:nvSpPr>
          <p:cNvPr id="28" name="TextBox 27"/>
          <p:cNvSpPr txBox="1"/>
          <p:nvPr/>
        </p:nvSpPr>
        <p:spPr>
          <a:xfrm>
            <a:off x="7223760" y="3063240"/>
            <a:ext cx="4419295"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What backs each claim</a:t>
            </a:r>
          </a:p>
        </p:txBody>
      </p:sp>
      <p:sp>
        <p:nvSpPr>
          <p:cNvPr id="29" name="Rectangle 28"/>
          <p:cNvSpPr/>
          <p:nvPr/>
        </p:nvSpPr>
        <p:spPr>
          <a:xfrm>
            <a:off x="7223760" y="335584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3520440"/>
            <a:ext cx="4419295" cy="2743200"/>
          </a:xfrm>
          <a:prstGeom prst="rect">
            <a:avLst/>
          </a:prstGeom>
          <a:noFill/>
        </p:spPr>
        <p:txBody>
          <a:bodyPr wrap="square" anchor="t" lIns="0" rIns="0" tIns="0" bIns="0">
            <a:spAutoFit/>
          </a:bodyPr>
          <a:lstStyle/>
          <a:p>
            <a:pPr algn="l" marL="182880" indent="-182880">
              <a:lnSpc>
                <a:spcPct val="105000"/>
              </a:lnSpc>
              <a:spcAft>
                <a:spcPts val="800"/>
              </a:spcAft>
              <a:buClr>
                <a:srgbClr val="2E75B6"/>
              </a:buClr>
              <a:buChar char="•"/>
            </a:pPr>
            <a:r>
              <a:rPr sz="1250" b="0">
                <a:solidFill>
                  <a:srgbClr val="1F2A44"/>
                </a:solidFill>
                <a:latin typeface="Calibri"/>
              </a:rPr>
              <a:t>Figures are computed in code from the ledger, not written by the language model.</a:t>
            </a:r>
          </a:p>
          <a:p>
            <a:pPr algn="l" marL="182880" indent="-182880">
              <a:lnSpc>
                <a:spcPct val="105000"/>
              </a:lnSpc>
              <a:spcAft>
                <a:spcPts val="800"/>
              </a:spcAft>
              <a:buClr>
                <a:srgbClr val="2E75B6"/>
              </a:buClr>
              <a:buChar char="•"/>
            </a:pPr>
            <a:r>
              <a:rPr sz="1250" b="0">
                <a:solidFill>
                  <a:srgbClr val="1F2A44"/>
                </a:solidFill>
                <a:latin typeface="Calibri"/>
              </a:rPr>
              <a:t>9 facts link to 10 source transactions, down to file and row.</a:t>
            </a:r>
          </a:p>
          <a:p>
            <a:pPr algn="l" marL="182880" indent="-182880">
              <a:lnSpc>
                <a:spcPct val="105000"/>
              </a:lnSpc>
              <a:spcAft>
                <a:spcPts val="800"/>
              </a:spcAft>
              <a:buClr>
                <a:srgbClr val="2E75B6"/>
              </a:buClr>
              <a:buChar char="•"/>
            </a:pPr>
            <a:r>
              <a:rPr sz="1250" b="0">
                <a:solidFill>
                  <a:srgbClr val="1F2A44"/>
                </a:solidFill>
                <a:latin typeface="Calibri"/>
              </a:rPr>
              <a:t>Quoted numbers in the narrative are checked against those facts; anything unverified is flagged.</a:t>
            </a:r>
          </a:p>
          <a:p>
            <a:pPr algn="l" marL="182880" indent="-182880">
              <a:lnSpc>
                <a:spcPct val="105000"/>
              </a:lnSpc>
              <a:spcAft>
                <a:spcPts val="800"/>
              </a:spcAft>
              <a:buClr>
                <a:srgbClr val="2E75B6"/>
              </a:buClr>
              <a:buChar char="•"/>
            </a:pPr>
            <a:r>
              <a:rPr sz="1250" b="0">
                <a:solidFill>
                  <a:srgbClr val="1F2A44"/>
                </a:solidFill>
                <a:latin typeface="Calibri"/>
              </a:rPr>
              <a:t>Guardrails screen the uploaded data for injected instructions and formula-style content.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100" b="1">
                <a:solidFill>
                  <a:srgbClr val="2E75B6"/>
                </a:solidFill>
                <a:latin typeface="Calibri"/>
              </a:rPr>
              <a:t>CONCLUSIONS</a:t>
            </a:r>
          </a:p>
        </p:txBody>
      </p:sp>
      <p:sp>
        <p:nvSpPr>
          <p:cNvPr id="4" name="TextBox 3"/>
          <p:cNvSpPr txBox="1"/>
          <p:nvPr/>
        </p:nvSpPr>
        <p:spPr>
          <a:xfrm>
            <a:off x="548640" y="621792"/>
            <a:ext cx="11094415" cy="868680"/>
          </a:xfrm>
          <a:prstGeom prst="rect">
            <a:avLst/>
          </a:prstGeom>
          <a:noFill/>
        </p:spPr>
        <p:txBody>
          <a:bodyPr wrap="square" anchor="t" lIns="0" rIns="0" tIns="0" bIns="0">
            <a:spAutoFit/>
          </a:bodyPr>
          <a:lstStyle/>
          <a:p>
            <a:pPr algn="l">
              <a:lnSpc>
                <a:spcPct val="95000"/>
              </a:lnSpc>
              <a:spcAft>
                <a:spcPts val="0"/>
              </a:spcAft>
            </a:pPr>
            <a:r>
              <a:rPr sz="2600" b="1">
                <a:solidFill>
                  <a:srgbClr val="1F3864"/>
                </a:solidFill>
                <a:latin typeface="Calibri"/>
              </a:rPr>
              <a:t>What leadership should take away, and what to keep in mind</a:t>
            </a:r>
          </a:p>
        </p:txBody>
      </p:sp>
      <p:sp>
        <p:nvSpPr>
          <p:cNvPr id="5" name="Rectangle 4"/>
          <p:cNvSpPr/>
          <p:nvPr/>
        </p:nvSpPr>
        <p:spPr>
          <a:xfrm>
            <a:off x="548640" y="6400800"/>
            <a:ext cx="11094415" cy="952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64808"/>
            <a:ext cx="8229600" cy="228600"/>
          </a:xfrm>
          <a:prstGeom prst="rect">
            <a:avLst/>
          </a:prstGeom>
          <a:noFill/>
        </p:spPr>
        <p:txBody>
          <a:bodyPr wrap="square" anchor="t" lIns="0" rIns="0" tIns="0" bIns="0">
            <a:spAutoFit/>
          </a:bodyPr>
          <a:lstStyle/>
          <a:p>
            <a:pPr algn="l">
              <a:lnSpc>
                <a:spcPct val="100000"/>
              </a:lnSpc>
              <a:spcAft>
                <a:spcPts val="0"/>
              </a:spcAft>
            </a:pPr>
            <a:r>
              <a:rPr sz="900" b="0">
                <a:solidFill>
                  <a:srgbClr val="5B6778"/>
                </a:solidFill>
                <a:latin typeface="Calibri"/>
              </a:rPr>
              <a:t>Ledgerlight  |  DemoCo  |  2026-07 to 2026-08  |  Run run_4fd778726cd1</a:t>
            </a:r>
          </a:p>
        </p:txBody>
      </p:sp>
      <p:sp>
        <p:nvSpPr>
          <p:cNvPr id="7" name="TextBox 6"/>
          <p:cNvSpPr txBox="1"/>
          <p:nvPr/>
        </p:nvSpPr>
        <p:spPr>
          <a:xfrm>
            <a:off x="10728655" y="6464808"/>
            <a:ext cx="914400" cy="228600"/>
          </a:xfrm>
          <a:prstGeom prst="rect">
            <a:avLst/>
          </a:prstGeom>
          <a:noFill/>
        </p:spPr>
        <p:txBody>
          <a:bodyPr wrap="square" anchor="t" lIns="0" rIns="0" tIns="0" bIns="0">
            <a:spAutoFit/>
          </a:bodyPr>
          <a:lstStyle/>
          <a:p>
            <a:pPr algn="r">
              <a:lnSpc>
                <a:spcPct val="100000"/>
              </a:lnSpc>
              <a:spcAft>
                <a:spcPts val="0"/>
              </a:spcAft>
            </a:pPr>
            <a:r>
              <a:rPr sz="900" b="0">
                <a:solidFill>
                  <a:srgbClr val="5B6778"/>
                </a:solidFill>
                <a:latin typeface="Calibri"/>
              </a:rPr>
              <a:t>6</a:t>
            </a:r>
          </a:p>
        </p:txBody>
      </p:sp>
      <p:sp>
        <p:nvSpPr>
          <p:cNvPr id="8" name="TextBox 7"/>
          <p:cNvSpPr txBox="1"/>
          <p:nvPr/>
        </p:nvSpPr>
        <p:spPr>
          <a:xfrm>
            <a:off x="548640" y="1691640"/>
            <a:ext cx="5577840"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Key findings</a:t>
            </a:r>
          </a:p>
        </p:txBody>
      </p:sp>
      <p:sp>
        <p:nvSpPr>
          <p:cNvPr id="9" name="Rectangle 8"/>
          <p:cNvSpPr/>
          <p:nvPr/>
        </p:nvSpPr>
        <p:spPr>
          <a:xfrm>
            <a:off x="548640" y="198424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48640" y="214884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384048" cy="274320"/>
          </a:xfrm>
          <a:prstGeom prst="rect">
            <a:avLst/>
          </a:prstGeom>
          <a:noFill/>
        </p:spPr>
        <p:txBody>
          <a:bodyPr wrap="square" anchor="t" lIns="0" rIns="0" tIns="0" bIns="0">
            <a:spAutoFit/>
          </a:bodyPr>
          <a:lstStyle/>
          <a:p>
            <a:pPr algn="ctr">
              <a:lnSpc>
                <a:spcPct val="100000"/>
              </a:lnSpc>
              <a:spcAft>
                <a:spcPts val="0"/>
              </a:spcAft>
            </a:pPr>
            <a:r>
              <a:rPr sz="1300" b="1">
                <a:solidFill>
                  <a:srgbClr val="FFFFFF"/>
                </a:solidFill>
                <a:latin typeface="Calibri"/>
              </a:rPr>
              <a:t>1</a:t>
            </a:r>
          </a:p>
        </p:txBody>
      </p:sp>
      <p:sp>
        <p:nvSpPr>
          <p:cNvPr id="12" name="TextBox 11"/>
          <p:cNvSpPr txBox="1"/>
          <p:nvPr/>
        </p:nvSpPr>
        <p:spPr>
          <a:xfrm>
            <a:off x="1143000" y="2148840"/>
            <a:ext cx="4937760" cy="77724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Revenue rose $33K (22.0%) to $183K.</a:t>
            </a:r>
          </a:p>
        </p:txBody>
      </p:sp>
      <p:sp>
        <p:nvSpPr>
          <p:cNvPr id="13" name="Oval 12"/>
          <p:cNvSpPr/>
          <p:nvPr/>
        </p:nvSpPr>
        <p:spPr>
          <a:xfrm>
            <a:off x="548640" y="2953512"/>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17520"/>
            <a:ext cx="384048" cy="274320"/>
          </a:xfrm>
          <a:prstGeom prst="rect">
            <a:avLst/>
          </a:prstGeom>
          <a:noFill/>
        </p:spPr>
        <p:txBody>
          <a:bodyPr wrap="square" anchor="t" lIns="0" rIns="0" tIns="0" bIns="0">
            <a:spAutoFit/>
          </a:bodyPr>
          <a:lstStyle/>
          <a:p>
            <a:pPr algn="ctr">
              <a:lnSpc>
                <a:spcPct val="100000"/>
              </a:lnSpc>
              <a:spcAft>
                <a:spcPts val="0"/>
              </a:spcAft>
            </a:pPr>
            <a:r>
              <a:rPr sz="1300" b="1">
                <a:solidFill>
                  <a:srgbClr val="FFFFFF"/>
                </a:solidFill>
                <a:latin typeface="Calibri"/>
              </a:rPr>
              <a:t>2</a:t>
            </a:r>
          </a:p>
        </p:txBody>
      </p:sp>
      <p:sp>
        <p:nvSpPr>
          <p:cNvPr id="15" name="TextBox 14"/>
          <p:cNvSpPr txBox="1"/>
          <p:nvPr/>
        </p:nvSpPr>
        <p:spPr>
          <a:xfrm>
            <a:off x="1143000" y="2953512"/>
            <a:ext cx="4937760" cy="77724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Meridian Health was the largest positive driver at +$10K.</a:t>
            </a:r>
          </a:p>
        </p:txBody>
      </p:sp>
      <p:sp>
        <p:nvSpPr>
          <p:cNvPr id="16" name="Oval 15"/>
          <p:cNvSpPr/>
          <p:nvPr/>
        </p:nvSpPr>
        <p:spPr>
          <a:xfrm>
            <a:off x="548640" y="3758184"/>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22192"/>
            <a:ext cx="384048" cy="274320"/>
          </a:xfrm>
          <a:prstGeom prst="rect">
            <a:avLst/>
          </a:prstGeom>
          <a:noFill/>
        </p:spPr>
        <p:txBody>
          <a:bodyPr wrap="square" anchor="t" lIns="0" rIns="0" tIns="0" bIns="0">
            <a:spAutoFit/>
          </a:bodyPr>
          <a:lstStyle/>
          <a:p>
            <a:pPr algn="ctr">
              <a:lnSpc>
                <a:spcPct val="100000"/>
              </a:lnSpc>
              <a:spcAft>
                <a:spcPts val="0"/>
              </a:spcAft>
            </a:pPr>
            <a:r>
              <a:rPr sz="1300" b="1">
                <a:solidFill>
                  <a:srgbClr val="FFFFFF"/>
                </a:solidFill>
                <a:latin typeface="Calibri"/>
              </a:rPr>
              <a:t>3</a:t>
            </a:r>
          </a:p>
        </p:txBody>
      </p:sp>
      <p:sp>
        <p:nvSpPr>
          <p:cNvPr id="18" name="TextBox 17"/>
          <p:cNvSpPr txBox="1"/>
          <p:nvPr/>
        </p:nvSpPr>
        <p:spPr>
          <a:xfrm>
            <a:off x="1143000" y="3758184"/>
            <a:ext cx="4937760" cy="77724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The top three drivers explain 82% of the change across 5 drivers, so growth is concentrated.</a:t>
            </a:r>
          </a:p>
        </p:txBody>
      </p:sp>
      <p:sp>
        <p:nvSpPr>
          <p:cNvPr id="19" name="Oval 18"/>
          <p:cNvSpPr/>
          <p:nvPr/>
        </p:nvSpPr>
        <p:spPr>
          <a:xfrm>
            <a:off x="548640" y="4562856"/>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626864"/>
            <a:ext cx="384048" cy="274320"/>
          </a:xfrm>
          <a:prstGeom prst="rect">
            <a:avLst/>
          </a:prstGeom>
          <a:noFill/>
        </p:spPr>
        <p:txBody>
          <a:bodyPr wrap="square" anchor="t" lIns="0" rIns="0" tIns="0" bIns="0">
            <a:spAutoFit/>
          </a:bodyPr>
          <a:lstStyle/>
          <a:p>
            <a:pPr algn="ctr">
              <a:lnSpc>
                <a:spcPct val="100000"/>
              </a:lnSpc>
              <a:spcAft>
                <a:spcPts val="0"/>
              </a:spcAft>
            </a:pPr>
            <a:r>
              <a:rPr sz="1300" b="1">
                <a:solidFill>
                  <a:srgbClr val="FFFFFF"/>
                </a:solidFill>
                <a:latin typeface="Calibri"/>
              </a:rPr>
              <a:t>4</a:t>
            </a:r>
          </a:p>
        </p:txBody>
      </p:sp>
      <p:sp>
        <p:nvSpPr>
          <p:cNvPr id="21" name="TextBox 20"/>
          <p:cNvSpPr txBox="1"/>
          <p:nvPr/>
        </p:nvSpPr>
        <p:spPr>
          <a:xfrm>
            <a:off x="1143000" y="4562856"/>
            <a:ext cx="4937760" cy="777240"/>
          </a:xfrm>
          <a:prstGeom prst="rect">
            <a:avLst/>
          </a:prstGeom>
          <a:noFill/>
        </p:spPr>
        <p:txBody>
          <a:bodyPr wrap="square" anchor="t" lIns="0" rIns="0" tIns="0" bIns="0">
            <a:spAutoFit/>
          </a:bodyPr>
          <a:lstStyle/>
          <a:p>
            <a:pPr algn="l">
              <a:lnSpc>
                <a:spcPct val="100000"/>
              </a:lnSpc>
              <a:spcAft>
                <a:spcPts val="0"/>
              </a:spcAft>
            </a:pPr>
            <a:r>
              <a:rPr sz="1400" b="0">
                <a:solidFill>
                  <a:srgbClr val="1F2A44"/>
                </a:solidFill>
                <a:latin typeface="Calibri"/>
              </a:rPr>
              <a:t>The explanation is evidence-backed: 16/16 numbers verified, data quality 100%.</a:t>
            </a:r>
          </a:p>
        </p:txBody>
      </p:sp>
      <p:sp>
        <p:nvSpPr>
          <p:cNvPr id="22" name="TextBox 21"/>
          <p:cNvSpPr txBox="1"/>
          <p:nvPr/>
        </p:nvSpPr>
        <p:spPr>
          <a:xfrm>
            <a:off x="6583680" y="1691640"/>
            <a:ext cx="5059375" cy="274320"/>
          </a:xfrm>
          <a:prstGeom prst="rect">
            <a:avLst/>
          </a:prstGeom>
          <a:noFill/>
        </p:spPr>
        <p:txBody>
          <a:bodyPr wrap="square" anchor="t" lIns="0" rIns="0" tIns="0" bIns="0">
            <a:spAutoFit/>
          </a:bodyPr>
          <a:lstStyle/>
          <a:p>
            <a:pPr algn="l">
              <a:lnSpc>
                <a:spcPct val="100000"/>
              </a:lnSpc>
              <a:spcAft>
                <a:spcPts val="0"/>
              </a:spcAft>
            </a:pPr>
            <a:r>
              <a:rPr sz="1300" b="1">
                <a:solidFill>
                  <a:srgbClr val="1F2A44"/>
                </a:solidFill>
                <a:latin typeface="Calibri"/>
              </a:rPr>
              <a:t>Risks and caveats</a:t>
            </a:r>
          </a:p>
        </p:txBody>
      </p:sp>
      <p:sp>
        <p:nvSpPr>
          <p:cNvPr id="23" name="Rectangle 22"/>
          <p:cNvSpPr/>
          <p:nvPr/>
        </p:nvSpPr>
        <p:spPr>
          <a:xfrm>
            <a:off x="6583680" y="1984248"/>
            <a:ext cx="457200" cy="25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0" y="2148840"/>
            <a:ext cx="5059375" cy="22860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12280" y="2286000"/>
            <a:ext cx="4602175" cy="2194560"/>
          </a:xfrm>
          <a:prstGeom prst="rect">
            <a:avLst/>
          </a:prstGeom>
          <a:noFill/>
        </p:spPr>
        <p:txBody>
          <a:bodyPr wrap="square" anchor="t" lIns="0" rIns="0" tIns="0" bIns="0">
            <a:spAutoFit/>
          </a:bodyPr>
          <a:lstStyle/>
          <a:p>
            <a:pPr algn="l" marL="182880" indent="-182880">
              <a:lnSpc>
                <a:spcPct val="100000"/>
              </a:lnSpc>
              <a:spcAft>
                <a:spcPts val="700"/>
              </a:spcAft>
              <a:buClr>
                <a:srgbClr val="2E75B6"/>
              </a:buClr>
              <a:buChar char="•"/>
            </a:pPr>
            <a:r>
              <a:rPr sz="1200" b="0">
                <a:solidFill>
                  <a:srgbClr val="1F2A44"/>
                </a:solidFill>
                <a:latin typeface="Calibri"/>
              </a:rPr>
              <a:t>Subscription revenue increase is highly concentrated: the top three customers represent 81.8% of the gain.</a:t>
            </a:r>
          </a:p>
          <a:p>
            <a:pPr algn="l" marL="182880" indent="-182880">
              <a:lnSpc>
                <a:spcPct val="100000"/>
              </a:lnSpc>
              <a:spcAft>
                <a:spcPts val="700"/>
              </a:spcAft>
              <a:buClr>
                <a:srgbClr val="2E75B6"/>
              </a:buClr>
              <a:buChar char="•"/>
            </a:pPr>
            <a:r>
              <a:rPr sz="1200" b="0">
                <a:solidFill>
                  <a:srgbClr val="1F2A44"/>
                </a:solidFill>
                <a:latin typeface="Calibri"/>
              </a:rPr>
              <a:t>Cloud hosting cost increase is fully attributable to AWS, indicating a single‑vendor exposure.</a:t>
            </a:r>
          </a:p>
          <a:p>
            <a:pPr algn="l" marL="182880" indent="-182880">
              <a:lnSpc>
                <a:spcPct val="100000"/>
              </a:lnSpc>
              <a:spcAft>
                <a:spcPts val="700"/>
              </a:spcAft>
              <a:buClr>
                <a:srgbClr val="2E75B6"/>
              </a:buClr>
              <a:buChar char="•"/>
            </a:pPr>
            <a:r>
              <a:rPr sz="1200" b="0">
                <a:solidFill>
                  <a:srgbClr val="1F2A44"/>
                </a:solidFill>
                <a:latin typeface="Calibri"/>
              </a:rPr>
              <a:t>Insufficient historical data prevents statistical significance testing for both variances.</a:t>
            </a:r>
          </a:p>
        </p:txBody>
      </p:sp>
      <p:sp>
        <p:nvSpPr>
          <p:cNvPr id="26" name="Rectangle 25"/>
          <p:cNvSpPr/>
          <p:nvPr/>
        </p:nvSpPr>
        <p:spPr>
          <a:xfrm>
            <a:off x="6583680" y="4617720"/>
            <a:ext cx="5059375" cy="16002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2280" y="4727448"/>
            <a:ext cx="4602175" cy="274320"/>
          </a:xfrm>
          <a:prstGeom prst="rect">
            <a:avLst/>
          </a:prstGeom>
          <a:noFill/>
        </p:spPr>
        <p:txBody>
          <a:bodyPr wrap="square" anchor="t" lIns="0" rIns="0" tIns="0" bIns="0">
            <a:spAutoFit/>
          </a:bodyPr>
          <a:lstStyle/>
          <a:p>
            <a:pPr algn="l">
              <a:lnSpc>
                <a:spcPct val="100000"/>
              </a:lnSpc>
              <a:spcAft>
                <a:spcPts val="0"/>
              </a:spcAft>
            </a:pPr>
            <a:r>
              <a:rPr sz="1000" b="1">
                <a:solidFill>
                  <a:srgbClr val="5B6778"/>
                </a:solidFill>
                <a:latin typeface="Calibri"/>
              </a:rPr>
              <a:t>BOARD UPDATE, ONE LINE</a:t>
            </a:r>
          </a:p>
        </p:txBody>
      </p:sp>
      <p:sp>
        <p:nvSpPr>
          <p:cNvPr id="28" name="TextBox 27"/>
          <p:cNvSpPr txBox="1"/>
          <p:nvPr/>
        </p:nvSpPr>
        <p:spPr>
          <a:xfrm>
            <a:off x="6812280" y="5029200"/>
            <a:ext cx="4602175" cy="1143000"/>
          </a:xfrm>
          <a:prstGeom prst="rect">
            <a:avLst/>
          </a:prstGeom>
          <a:noFill/>
        </p:spPr>
        <p:txBody>
          <a:bodyPr wrap="square" anchor="t" lIns="0" rIns="0" tIns="0" bIns="0">
            <a:spAutoFit/>
          </a:bodyPr>
          <a:lstStyle/>
          <a:p>
            <a:pPr algn="l">
              <a:lnSpc>
                <a:spcPct val="100000"/>
              </a:lnSpc>
              <a:spcAft>
                <a:spcPts val="0"/>
              </a:spcAft>
            </a:pPr>
            <a:r>
              <a:rPr sz="1250" b="0">
                <a:solidFill>
                  <a:srgbClr val="1F2A44"/>
                </a:solidFill>
                <a:latin typeface="Calibri"/>
              </a:rPr>
              <a:t>DemoCo posted a strong August: subscription revenue rose $33K (22%) to $183K, driven by four customers—Meridian Health (+$10K), SMB Bulk (+$9K), Northwind Labs (+$8K), and AtlasGrid (+$6K)—with the top three contributing 81.8% of the gain. Cloud hosting expense increased $6.4K (22%) to $35.5K, entirely due to higher AWS usage,…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100" b="1">
                <a:solidFill>
                  <a:srgbClr val="2E75B6"/>
                </a:solidFill>
                <a:latin typeface="Calibri"/>
              </a:rPr>
              <a:t>NEXT STEPS</a:t>
            </a:r>
          </a:p>
        </p:txBody>
      </p:sp>
      <p:sp>
        <p:nvSpPr>
          <p:cNvPr id="4" name="TextBox 3"/>
          <p:cNvSpPr txBox="1"/>
          <p:nvPr/>
        </p:nvSpPr>
        <p:spPr>
          <a:xfrm>
            <a:off x="548640" y="621792"/>
            <a:ext cx="11094415" cy="868680"/>
          </a:xfrm>
          <a:prstGeom prst="rect">
            <a:avLst/>
          </a:prstGeom>
          <a:noFill/>
        </p:spPr>
        <p:txBody>
          <a:bodyPr wrap="square" anchor="t" lIns="0" rIns="0" tIns="0" bIns="0">
            <a:spAutoFit/>
          </a:bodyPr>
          <a:lstStyle/>
          <a:p>
            <a:pPr algn="l">
              <a:lnSpc>
                <a:spcPct val="95000"/>
              </a:lnSpc>
              <a:spcAft>
                <a:spcPts val="0"/>
              </a:spcAft>
            </a:pPr>
            <a:r>
              <a:rPr sz="2600" b="1">
                <a:solidFill>
                  <a:srgbClr val="1F3864"/>
                </a:solidFill>
                <a:latin typeface="Calibri"/>
              </a:rPr>
              <a:t>From a one-off analysis to a monthly, always-on revenue review</a:t>
            </a:r>
          </a:p>
        </p:txBody>
      </p:sp>
      <p:sp>
        <p:nvSpPr>
          <p:cNvPr id="5" name="Rectangle 4"/>
          <p:cNvSpPr/>
          <p:nvPr/>
        </p:nvSpPr>
        <p:spPr>
          <a:xfrm>
            <a:off x="548640" y="6400800"/>
            <a:ext cx="11094415" cy="952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64808"/>
            <a:ext cx="8229600" cy="228600"/>
          </a:xfrm>
          <a:prstGeom prst="rect">
            <a:avLst/>
          </a:prstGeom>
          <a:noFill/>
        </p:spPr>
        <p:txBody>
          <a:bodyPr wrap="square" anchor="t" lIns="0" rIns="0" tIns="0" bIns="0">
            <a:spAutoFit/>
          </a:bodyPr>
          <a:lstStyle/>
          <a:p>
            <a:pPr algn="l">
              <a:lnSpc>
                <a:spcPct val="100000"/>
              </a:lnSpc>
              <a:spcAft>
                <a:spcPts val="0"/>
              </a:spcAft>
            </a:pPr>
            <a:r>
              <a:rPr sz="900" b="0">
                <a:solidFill>
                  <a:srgbClr val="5B6778"/>
                </a:solidFill>
                <a:latin typeface="Calibri"/>
              </a:rPr>
              <a:t>Ledgerlight  |  DemoCo  |  2026-07 to 2026-08  |  Run run_4fd778726cd1</a:t>
            </a:r>
          </a:p>
        </p:txBody>
      </p:sp>
      <p:sp>
        <p:nvSpPr>
          <p:cNvPr id="7" name="TextBox 6"/>
          <p:cNvSpPr txBox="1"/>
          <p:nvPr/>
        </p:nvSpPr>
        <p:spPr>
          <a:xfrm>
            <a:off x="10728655" y="6464808"/>
            <a:ext cx="914400" cy="228600"/>
          </a:xfrm>
          <a:prstGeom prst="rect">
            <a:avLst/>
          </a:prstGeom>
          <a:noFill/>
        </p:spPr>
        <p:txBody>
          <a:bodyPr wrap="square" anchor="t" lIns="0" rIns="0" tIns="0" bIns="0">
            <a:spAutoFit/>
          </a:bodyPr>
          <a:lstStyle/>
          <a:p>
            <a:pPr algn="r">
              <a:lnSpc>
                <a:spcPct val="100000"/>
              </a:lnSpc>
              <a:spcAft>
                <a:spcPts val="0"/>
              </a:spcAft>
            </a:pPr>
            <a:r>
              <a:rPr sz="900" b="0">
                <a:solidFill>
                  <a:srgbClr val="5B6778"/>
                </a:solidFill>
                <a:latin typeface="Calibri"/>
              </a:rPr>
              <a:t>7</a:t>
            </a:r>
          </a:p>
        </p:txBody>
      </p:sp>
      <p:sp>
        <p:nvSpPr>
          <p:cNvPr id="8" name="Rectangle 7"/>
          <p:cNvSpPr/>
          <p:nvPr/>
        </p:nvSpPr>
        <p:spPr>
          <a:xfrm>
            <a:off x="548640" y="1691640"/>
            <a:ext cx="3515258" cy="384048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91640"/>
            <a:ext cx="3515258" cy="5486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3058058" cy="320040"/>
          </a:xfrm>
          <a:prstGeom prst="rect">
            <a:avLst/>
          </a:prstGeom>
          <a:noFill/>
        </p:spPr>
        <p:txBody>
          <a:bodyPr wrap="square" anchor="t" lIns="0" rIns="0" tIns="0" bIns="0">
            <a:spAutoFit/>
          </a:bodyPr>
          <a:lstStyle/>
          <a:p>
            <a:pPr algn="l">
              <a:lnSpc>
                <a:spcPct val="100000"/>
              </a:lnSpc>
              <a:spcAft>
                <a:spcPts val="0"/>
              </a:spcAft>
            </a:pPr>
            <a:r>
              <a:rPr sz="1400" b="1">
                <a:solidFill>
                  <a:srgbClr val="1F3864"/>
                </a:solidFill>
                <a:latin typeface="Calibri"/>
              </a:rPr>
              <a:t>Open questions from this run</a:t>
            </a:r>
          </a:p>
        </p:txBody>
      </p:sp>
      <p:sp>
        <p:nvSpPr>
          <p:cNvPr id="11" name="TextBox 10"/>
          <p:cNvSpPr txBox="1"/>
          <p:nvPr/>
        </p:nvSpPr>
        <p:spPr>
          <a:xfrm>
            <a:off x="777240" y="2377440"/>
            <a:ext cx="3058058" cy="3108960"/>
          </a:xfrm>
          <a:prstGeom prst="rect">
            <a:avLst/>
          </a:prstGeom>
          <a:noFill/>
        </p:spPr>
        <p:txBody>
          <a:bodyPr wrap="square" anchor="t" lIns="0" rIns="0" tIns="0" bIns="0">
            <a:spAutoFit/>
          </a:bodyPr>
          <a:lstStyle/>
          <a:p>
            <a:pPr algn="l" marL="182880" indent="-182880">
              <a:lnSpc>
                <a:spcPct val="100000"/>
              </a:lnSpc>
              <a:spcAft>
                <a:spcPts val="900"/>
              </a:spcAft>
              <a:buClr>
                <a:srgbClr val="2E75B6"/>
              </a:buClr>
              <a:buChar char="•"/>
            </a:pPr>
            <a:r>
              <a:rPr sz="1250" b="0">
                <a:solidFill>
                  <a:srgbClr val="1F2A44"/>
                </a:solidFill>
                <a:latin typeface="Calibri"/>
              </a:rPr>
              <a:t>Is the growth from Meridian Health, SMB Bulk, Northwind Labs, and AtlasGrid expected to continue in the…</a:t>
            </a:r>
          </a:p>
          <a:p>
            <a:pPr algn="l" marL="182880" indent="-182880">
              <a:lnSpc>
                <a:spcPct val="100000"/>
              </a:lnSpc>
              <a:spcAft>
                <a:spcPts val="900"/>
              </a:spcAft>
              <a:buClr>
                <a:srgbClr val="2E75B6"/>
              </a:buClr>
              <a:buChar char="•"/>
            </a:pPr>
            <a:r>
              <a:rPr sz="1250" b="0">
                <a:solidFill>
                  <a:srgbClr val="1F2A44"/>
                </a:solidFill>
                <a:latin typeface="Calibri"/>
              </a:rPr>
              <a:t>Are there plans to diversify the customer base to reduce concentration risk?</a:t>
            </a:r>
          </a:p>
          <a:p>
            <a:pPr algn="l" marL="182880" indent="-182880">
              <a:lnSpc>
                <a:spcPct val="100000"/>
              </a:lnSpc>
              <a:spcAft>
                <a:spcPts val="900"/>
              </a:spcAft>
              <a:buClr>
                <a:srgbClr val="2E75B6"/>
              </a:buClr>
              <a:buChar char="•"/>
            </a:pPr>
            <a:r>
              <a:rPr sz="1250" b="0">
                <a:solidFill>
                  <a:srgbClr val="1F2A44"/>
                </a:solidFill>
                <a:latin typeface="Calibri"/>
              </a:rPr>
              <a:t>Will AWS usage patterns change, and are there cost‑optimization initiatives in place?</a:t>
            </a:r>
          </a:p>
        </p:txBody>
      </p:sp>
      <p:sp>
        <p:nvSpPr>
          <p:cNvPr id="12" name="Rectangle 11"/>
          <p:cNvSpPr/>
          <p:nvPr/>
        </p:nvSpPr>
        <p:spPr>
          <a:xfrm>
            <a:off x="4338218" y="1691640"/>
            <a:ext cx="3515258" cy="384048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218" y="1691640"/>
            <a:ext cx="3515258"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6818" y="1874519"/>
            <a:ext cx="3058058" cy="320040"/>
          </a:xfrm>
          <a:prstGeom prst="rect">
            <a:avLst/>
          </a:prstGeom>
          <a:noFill/>
        </p:spPr>
        <p:txBody>
          <a:bodyPr wrap="square" anchor="t" lIns="0" rIns="0" tIns="0" bIns="0">
            <a:spAutoFit/>
          </a:bodyPr>
          <a:lstStyle/>
          <a:p>
            <a:pPr algn="l">
              <a:lnSpc>
                <a:spcPct val="100000"/>
              </a:lnSpc>
              <a:spcAft>
                <a:spcPts val="0"/>
              </a:spcAft>
            </a:pPr>
            <a:r>
              <a:rPr sz="1400" b="1">
                <a:solidFill>
                  <a:srgbClr val="1F3864"/>
                </a:solidFill>
                <a:latin typeface="Calibri"/>
              </a:rPr>
              <a:t>Product roadmap</a:t>
            </a:r>
          </a:p>
        </p:txBody>
      </p:sp>
      <p:sp>
        <p:nvSpPr>
          <p:cNvPr id="15" name="TextBox 14"/>
          <p:cNvSpPr txBox="1"/>
          <p:nvPr/>
        </p:nvSpPr>
        <p:spPr>
          <a:xfrm>
            <a:off x="4566818" y="2377440"/>
            <a:ext cx="3058058" cy="3108960"/>
          </a:xfrm>
          <a:prstGeom prst="rect">
            <a:avLst/>
          </a:prstGeom>
          <a:noFill/>
        </p:spPr>
        <p:txBody>
          <a:bodyPr wrap="square" anchor="t" lIns="0" rIns="0" tIns="0" bIns="0">
            <a:spAutoFit/>
          </a:bodyPr>
          <a:lstStyle/>
          <a:p>
            <a:pPr algn="l" marL="182880" indent="-182880">
              <a:lnSpc>
                <a:spcPct val="100000"/>
              </a:lnSpc>
              <a:spcAft>
                <a:spcPts val="900"/>
              </a:spcAft>
              <a:buClr>
                <a:srgbClr val="2E75B6"/>
              </a:buClr>
              <a:buChar char="•"/>
            </a:pPr>
            <a:r>
              <a:rPr sz="1250" b="0">
                <a:solidFill>
                  <a:srgbClr val="1F2A44"/>
                </a:solidFill>
                <a:latin typeface="Calibri"/>
              </a:rPr>
              <a:t>Multi-period trends and seasonality, beyond a two-period comparison</a:t>
            </a:r>
          </a:p>
          <a:p>
            <a:pPr algn="l" marL="182880" indent="-182880">
              <a:lnSpc>
                <a:spcPct val="100000"/>
              </a:lnSpc>
              <a:spcAft>
                <a:spcPts val="900"/>
              </a:spcAft>
              <a:buClr>
                <a:srgbClr val="2E75B6"/>
              </a:buClr>
              <a:buChar char="•"/>
            </a:pPr>
            <a:r>
              <a:rPr sz="1250" b="0">
                <a:solidFill>
                  <a:srgbClr val="1F2A44"/>
                </a:solidFill>
                <a:latin typeface="Calibri"/>
              </a:rPr>
              <a:t>Forecasting and what-if scenarios on the top drivers</a:t>
            </a:r>
          </a:p>
          <a:p>
            <a:pPr algn="l" marL="182880" indent="-182880">
              <a:lnSpc>
                <a:spcPct val="100000"/>
              </a:lnSpc>
              <a:spcAft>
                <a:spcPts val="900"/>
              </a:spcAft>
              <a:buClr>
                <a:srgbClr val="2E75B6"/>
              </a:buClr>
              <a:buChar char="•"/>
            </a:pPr>
            <a:r>
              <a:rPr sz="1250" b="0">
                <a:solidFill>
                  <a:srgbClr val="1F2A44"/>
                </a:solidFill>
                <a:latin typeface="Calibri"/>
              </a:rPr>
              <a:t>Live connectors to the ledger and billing systems</a:t>
            </a:r>
          </a:p>
          <a:p>
            <a:pPr algn="l" marL="182880" indent="-182880">
              <a:lnSpc>
                <a:spcPct val="100000"/>
              </a:lnSpc>
              <a:spcAft>
                <a:spcPts val="900"/>
              </a:spcAft>
              <a:buClr>
                <a:srgbClr val="2E75B6"/>
              </a:buClr>
              <a:buChar char="•"/>
            </a:pPr>
            <a:r>
              <a:rPr sz="1250" b="0">
                <a:solidFill>
                  <a:srgbClr val="1F2A44"/>
                </a:solidFill>
                <a:latin typeface="Calibri"/>
              </a:rPr>
              <a:t>Scheduled monthly board pack, delivered automatically</a:t>
            </a:r>
          </a:p>
        </p:txBody>
      </p:sp>
      <p:sp>
        <p:nvSpPr>
          <p:cNvPr id="16" name="Rectangle 15"/>
          <p:cNvSpPr/>
          <p:nvPr/>
        </p:nvSpPr>
        <p:spPr>
          <a:xfrm>
            <a:off x="8127796" y="1691640"/>
            <a:ext cx="3515258" cy="384048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7796" y="1691640"/>
            <a:ext cx="3515258" cy="5486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396" y="1874519"/>
            <a:ext cx="3058058" cy="320040"/>
          </a:xfrm>
          <a:prstGeom prst="rect">
            <a:avLst/>
          </a:prstGeom>
          <a:noFill/>
        </p:spPr>
        <p:txBody>
          <a:bodyPr wrap="square" anchor="t" lIns="0" rIns="0" tIns="0" bIns="0">
            <a:spAutoFit/>
          </a:bodyPr>
          <a:lstStyle/>
          <a:p>
            <a:pPr algn="l">
              <a:lnSpc>
                <a:spcPct val="100000"/>
              </a:lnSpc>
              <a:spcAft>
                <a:spcPts val="0"/>
              </a:spcAft>
            </a:pPr>
            <a:r>
              <a:rPr sz="1400" b="1">
                <a:solidFill>
                  <a:srgbClr val="1F3864"/>
                </a:solidFill>
                <a:latin typeface="Calibri"/>
              </a:rPr>
              <a:t>Asks of this audience</a:t>
            </a:r>
          </a:p>
        </p:txBody>
      </p:sp>
      <p:sp>
        <p:nvSpPr>
          <p:cNvPr id="19" name="TextBox 18"/>
          <p:cNvSpPr txBox="1"/>
          <p:nvPr/>
        </p:nvSpPr>
        <p:spPr>
          <a:xfrm>
            <a:off x="8356396" y="2377440"/>
            <a:ext cx="3058058" cy="3108960"/>
          </a:xfrm>
          <a:prstGeom prst="rect">
            <a:avLst/>
          </a:prstGeom>
          <a:noFill/>
        </p:spPr>
        <p:txBody>
          <a:bodyPr wrap="square" anchor="t" lIns="0" rIns="0" tIns="0" bIns="0">
            <a:spAutoFit/>
          </a:bodyPr>
          <a:lstStyle/>
          <a:p>
            <a:pPr algn="l" marL="182880" indent="-182880">
              <a:lnSpc>
                <a:spcPct val="100000"/>
              </a:lnSpc>
              <a:spcAft>
                <a:spcPts val="900"/>
              </a:spcAft>
              <a:buClr>
                <a:srgbClr val="2E75B6"/>
              </a:buClr>
              <a:buChar char="•"/>
            </a:pPr>
            <a:r>
              <a:rPr sz="1250" b="0">
                <a:solidFill>
                  <a:srgbClr val="1F2A44"/>
                </a:solidFill>
                <a:latin typeface="Calibri"/>
              </a:rPr>
              <a:t>Confirm the drivers and caveats on slide 6 with account owners</a:t>
            </a:r>
          </a:p>
          <a:p>
            <a:pPr algn="l" marL="182880" indent="-182880">
              <a:lnSpc>
                <a:spcPct val="100000"/>
              </a:lnSpc>
              <a:spcAft>
                <a:spcPts val="900"/>
              </a:spcAft>
              <a:buClr>
                <a:srgbClr val="2E75B6"/>
              </a:buClr>
              <a:buChar char="•"/>
            </a:pPr>
            <a:r>
              <a:rPr sz="1250" b="0">
                <a:solidFill>
                  <a:srgbClr val="1F2A44"/>
                </a:solidFill>
                <a:latin typeface="Calibri"/>
              </a:rPr>
              <a:t>Nominate a pilot team and data source for the next close</a:t>
            </a:r>
          </a:p>
          <a:p>
            <a:pPr algn="l" marL="182880" indent="-182880">
              <a:lnSpc>
                <a:spcPct val="100000"/>
              </a:lnSpc>
              <a:spcAft>
                <a:spcPts val="900"/>
              </a:spcAft>
              <a:buClr>
                <a:srgbClr val="2E75B6"/>
              </a:buClr>
              <a:buChar char="•"/>
            </a:pPr>
            <a:r>
              <a:rPr sz="1250" b="0">
                <a:solidFill>
                  <a:srgbClr val="1F2A44"/>
                </a:solidFill>
                <a:latin typeface="Calibri"/>
              </a:rPr>
              <a:t>Agree the confidence threshold for external reporting</a:t>
            </a:r>
          </a:p>
          <a:p>
            <a:pPr algn="l" marL="182880" indent="-182880">
              <a:lnSpc>
                <a:spcPct val="100000"/>
              </a:lnSpc>
              <a:spcAft>
                <a:spcPts val="900"/>
              </a:spcAft>
              <a:buClr>
                <a:srgbClr val="2E75B6"/>
              </a:buClr>
              <a:buChar char="•"/>
            </a:pPr>
            <a:r>
              <a:rPr sz="1250" b="0">
                <a:solidFill>
                  <a:srgbClr val="1F2A44"/>
                </a:solidFill>
                <a:latin typeface="Calibri"/>
              </a:rPr>
              <a:t>Review the Power BI report for the same run</a:t>
            </a:r>
          </a:p>
        </p:txBody>
      </p:sp>
      <p:sp>
        <p:nvSpPr>
          <p:cNvPr id="20" name="Rectangle 19"/>
          <p:cNvSpPr/>
          <p:nvPr/>
        </p:nvSpPr>
        <p:spPr>
          <a:xfrm>
            <a:off x="548640" y="5715000"/>
            <a:ext cx="11094415" cy="5029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715000"/>
            <a:ext cx="10545775" cy="502920"/>
          </a:xfrm>
          <a:prstGeom prst="rect">
            <a:avLst/>
          </a:prstGeom>
          <a:noFill/>
        </p:spPr>
        <p:txBody>
          <a:bodyPr wrap="square" anchor="ctr" lIns="0" rIns="0" tIns="0" bIns="0">
            <a:spAutoFit/>
          </a:bodyPr>
          <a:lstStyle/>
          <a:p>
            <a:pPr algn="l">
              <a:lnSpc>
                <a:spcPct val="100000"/>
              </a:lnSpc>
              <a:spcAft>
                <a:spcPts val="0"/>
              </a:spcAft>
            </a:pPr>
            <a:r>
              <a:rPr sz="1400" b="1">
                <a:solidFill>
                  <a:srgbClr val="FFFFFF"/>
                </a:solidFill>
                <a:latin typeface="Calibri"/>
              </a:rPr>
              <a:t>Next step: agree the pilot scope and run this review on the next period close.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